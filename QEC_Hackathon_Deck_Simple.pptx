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1.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6" r:id="rId17"/>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dbbbf24-0b29-8639-524b-f26fb65197e1}">
          <p14:sldIdLst>
            <p14:sldId id="256"/>
            <p14:sldId id="257"/>
          </p14:sldIdLst>
        </p14:section>
        <p14:section name="Core Engine" id="{c3629461-0877-7052-3a4f-e37b2f76f76b}">
          <p14:sldIdLst>
            <p14:sldId id="258"/>
          </p14:sldIdLst>
        </p14:section>
        <p14:section name="Results" id="{43ebdab8-334d-a9dc-5c9a-7c9794fa748a}">
          <p14:sldIdLst>
            <p14:sldId id="259"/>
            <p14:sldId id="260"/>
            <p14:sldId id="261"/>
            <p14:sldId id="262"/>
            <p14:sldId id="263"/>
          </p14:sldIdLst>
        </p14:section>
        <p14:section name="Controller &amp; Verdict" id="{23943c2d-7aba-25a1-0d62-3bbd0fadb3eb}">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  <Relationship Id="rId17" Type="http://schemas.openxmlformats.org/officeDocument/2006/relationships/slide" Target="slides/slide1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judges. Our project is about protecting quantum computers from mistakes. Quantum computers are very sensitive and make errors easily. We tested when fixing those errors actually helps, using a quantum simulator called Qiskit and a smart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projects stop at textbook maths. We did three things: used real data, built a realistic test, and added a smart program that picks the best fix. We found out when error correction works, and when its extra steps make things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Kaggle data tells us how noisy real quantum circuits are. We turn that data into noise inside our simulator. To check results, we start a qubit in a known state, add noise, then undo everything. We try six different starting states, so our method cannot cheat by working for only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we checked our tool against textbook maths. With perfect gates, our results match the formula exactly, so we can trust our simulator. We also learned that using the wrong kind of protection can be worse than using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longer a qubit waits, the more it is damaged. Checking it regularly helps most. Left side: perfect gates. Right side: gates that also make mistakes, where the benefit gets smaller.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colour map is our main finding. Green means error correction helps. Red means the extra gates it needs add more mistakes than they fix. This shows why we need a smart choice on today's noisy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correction is not free. It needs about 3 times the qubits and about 3.3 times the gates, and gave only about 7 percent better accuracy. With realistic fading over time, even that small gain shrinks. This leads to our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is new. One: a map showing when error correction helps and when it hurts. Two: a smart program that picks the best protection for each case. Three: AI that is given physics formulas as hints and scored by regret. Four: real Kaggle data used to set the noise, with six starting states and error bars.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Noise changes from machine to machine, so we built a smart program that picks the best protection each time. We gave it known physics formulas as hints, not just raw data. We score it by regret, meaning how much worse it is than a perfect choice, and we tested it on noise levels it had never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we found out when quantum error correction pays off. We used real data, a realistic simulation, and a smart program. So we do not just simulate quantum circuits, we decide how to protect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LIGHT_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LIGHT_SIDE-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LIGHT_CONTENT-image-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DARK_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_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292608"/>
            <a:ext cx="4572000" cy="320040"/>
          </a:xfrm>
          <a:prstGeom prst="rect">
            <a:avLst/>
          </a:prstGeom>
          <a:noFill/>
          <a:ln/>
        </p:spPr>
        <p:txBody>
          <a:bodyPr wrap="square" lIns="0" tIns="0" rIns="0" bIns="0" rtlCol="0" anchor="ctr"/>
          <a:lstStyle/>
          <a:p>
            <a:pPr indent="0" marL="0">
              <a:buNone/>
            </a:pPr>
            <a:r>
              <a:rPr lang="en-US" sz="1400" b="1" dirty="0">
                <a:solidFill>
                  <a:schemeClr val="tx1"/>
                </a:solidFill>
              </a:rPr>
              <a:t>Qiskit Fall Fest 2026</a:t>
            </a:r>
            <a:endParaRPr lang="en-US" sz="1400" dirty="0"/>
          </a:p>
        </p:txBody>
      </p:sp>
      <p:sp>
        <p:nvSpPr>
          <p:cNvPr id="3" name="Text 1"/>
          <p:cNvSpPr/>
          <p:nvPr/>
        </p:nvSpPr>
        <p:spPr>
          <a:xfrm>
            <a:off x="7040880" y="292608"/>
            <a:ext cx="4599432" cy="320040"/>
          </a:xfrm>
          <a:prstGeom prst="rect">
            <a:avLst/>
          </a:prstGeom>
          <a:noFill/>
          <a:ln/>
        </p:spPr>
        <p:txBody>
          <a:bodyPr wrap="square" lIns="0" tIns="0" rIns="0" bIns="0" rtlCol="0" anchor="ctr"/>
          <a:lstStyle/>
          <a:p>
            <a:pPr algn="r" indent="0" marL="0">
              <a:buNone/>
            </a:pPr>
            <a:r>
              <a:rPr lang="en-US" sz="1200" dirty="0">
                <a:solidFill>
                  <a:schemeClr val="tx1"/>
                </a:solidFill>
              </a:rPr>
              <a:t>Track 3  |  Quantum Error Correction</a:t>
            </a:r>
            <a:endParaRPr lang="en-US" sz="1200" dirty="0"/>
          </a:p>
        </p:txBody>
      </p:sp>
      <p:sp>
        <p:nvSpPr>
          <p:cNvPr id="4" name="Text 2"/>
          <p:cNvSpPr/>
          <p:nvPr>
            <p:ph idx="102" type="title" hasCustomPrompt="1"/>
          </p:nvPr>
        </p:nvSpPr>
        <p:spPr>
          <a:xfrm>
            <a:off x="548640" y="2926080"/>
            <a:ext cx="6675120" cy="3383280"/>
          </a:xfrm>
          <a:prstGeom prst="rect">
            <a:avLst/>
          </a:prstGeom>
          <a:noFill/>
          <a:ln/>
        </p:spPr>
        <p:txBody>
          <a:bodyPr wrap="square" rtlCol="0"/>
          <a:lstStyle>
            <a:lvl1pPr algn="l" indent="0" marL="0">
              <a:buNone/>
              <a:defRPr lang="en-US" sz="5800" b="1" spc="-100" kern="0" dirty="0">
                <a:solidFill>
                  <a:schemeClr val="tx1"/>
                </a:solidFill>
              </a:defRPr>
            </a:lvl1pPr>
          </a:lstStyle>
          <a:p>
            <a:pPr algn="l" indent="0" marL="0">
              <a:buNone/>
            </a:pPr>
            <a:endParaRPr lang="en-US" sz="5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SID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292608"/>
            <a:ext cx="4572000" cy="320040"/>
          </a:xfrm>
          <a:prstGeom prst="rect">
            <a:avLst/>
          </a:prstGeom>
          <a:noFill/>
          <a:ln/>
        </p:spPr>
        <p:txBody>
          <a:bodyPr wrap="square" lIns="0" tIns="0" rIns="0" bIns="0" rtlCol="0" anchor="ctr"/>
          <a:lstStyle/>
          <a:p>
            <a:pPr indent="0" marL="0">
              <a:buNone/>
            </a:pPr>
            <a:r>
              <a:rPr lang="en-US" sz="1400" b="1" dirty="0">
                <a:solidFill>
                  <a:schemeClr val="tx1"/>
                </a:solidFill>
              </a:rPr>
              <a:t>Qiskit Fall Fest 2026</a:t>
            </a:r>
            <a:endParaRPr lang="en-US" sz="1400" dirty="0"/>
          </a:p>
        </p:txBody>
      </p:sp>
      <p:sp>
        <p:nvSpPr>
          <p:cNvPr id="3" name="Text 1"/>
          <p:cNvSpPr/>
          <p:nvPr/>
        </p:nvSpPr>
        <p:spPr>
          <a:xfrm>
            <a:off x="7040880" y="292608"/>
            <a:ext cx="4599432" cy="320040"/>
          </a:xfrm>
          <a:prstGeom prst="rect">
            <a:avLst/>
          </a:prstGeom>
          <a:noFill/>
          <a:ln/>
        </p:spPr>
        <p:txBody>
          <a:bodyPr wrap="square" lIns="0" tIns="0" rIns="0" bIns="0" rtlCol="0" anchor="ctr"/>
          <a:lstStyle/>
          <a:p>
            <a:pPr algn="r" indent="0" marL="0">
              <a:buNone/>
            </a:pPr>
            <a:r>
              <a:rPr lang="en-US" sz="1200" dirty="0">
                <a:solidFill>
                  <a:schemeClr val="tx1"/>
                </a:solidFill>
              </a:rPr>
              <a:t>Track 3  |  Quantum Error Correction</a:t>
            </a:r>
            <a:endParaRPr lang="en-US" sz="1200" dirty="0"/>
          </a:p>
        </p:txBody>
      </p:sp>
      <p:sp>
        <p:nvSpPr>
          <p:cNvPr id="4" name="Text 2"/>
          <p:cNvSpPr/>
          <p:nvPr>
            <p:ph idx="102" type="title" hasCustomPrompt="1"/>
          </p:nvPr>
        </p:nvSpPr>
        <p:spPr>
          <a:xfrm>
            <a:off x="548640" y="822960"/>
            <a:ext cx="4754880" cy="5394960"/>
          </a:xfrm>
          <a:prstGeom prst="rect">
            <a:avLst/>
          </a:prstGeom>
          <a:noFill/>
          <a:ln/>
        </p:spPr>
        <p:txBody>
          <a:bodyPr wrap="square" rtlCol="0"/>
          <a:lstStyle>
            <a:lvl1pPr algn="l" indent="0" marL="0">
              <a:buNone/>
              <a:defRPr lang="en-US" sz="4000" b="1" spc="-100" kern="0" dirty="0">
                <a:solidFill>
                  <a:schemeClr val="tx1"/>
                </a:solidFill>
              </a:defRPr>
            </a:lvl1pPr>
          </a:lstStyle>
          <a:p>
            <a:pPr algn="l" indent="0" marL="0">
              <a:buNone/>
            </a:pP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_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292608"/>
            <a:ext cx="4572000" cy="320040"/>
          </a:xfrm>
          <a:prstGeom prst="rect">
            <a:avLst/>
          </a:prstGeom>
          <a:noFill/>
          <a:ln/>
        </p:spPr>
        <p:txBody>
          <a:bodyPr wrap="square" lIns="0" tIns="0" rIns="0" bIns="0" rtlCol="0" anchor="ctr"/>
          <a:lstStyle/>
          <a:p>
            <a:pPr indent="0" marL="0">
              <a:buNone/>
            </a:pPr>
            <a:r>
              <a:rPr lang="en-US" sz="1400" b="1" dirty="0">
                <a:solidFill>
                  <a:schemeClr val="tx1"/>
                </a:solidFill>
              </a:rPr>
              <a:t>Qiskit Fall Fest 2026</a:t>
            </a:r>
            <a:endParaRPr lang="en-US" sz="1400" dirty="0"/>
          </a:p>
        </p:txBody>
      </p:sp>
      <p:sp>
        <p:nvSpPr>
          <p:cNvPr id="3" name="Text 1"/>
          <p:cNvSpPr/>
          <p:nvPr/>
        </p:nvSpPr>
        <p:spPr>
          <a:xfrm>
            <a:off x="7040880" y="292608"/>
            <a:ext cx="4599432" cy="320040"/>
          </a:xfrm>
          <a:prstGeom prst="rect">
            <a:avLst/>
          </a:prstGeom>
          <a:noFill/>
          <a:ln/>
        </p:spPr>
        <p:txBody>
          <a:bodyPr wrap="square" lIns="0" tIns="0" rIns="0" bIns="0" rtlCol="0" anchor="ctr"/>
          <a:lstStyle/>
          <a:p>
            <a:pPr algn="r" indent="0" marL="0">
              <a:buNone/>
            </a:pPr>
            <a:r>
              <a:rPr lang="en-US" sz="1200" dirty="0">
                <a:solidFill>
                  <a:schemeClr val="tx1"/>
                </a:solidFill>
              </a:rPr>
              <a:t>Track 3  |  Quantum Error Correction</a:t>
            </a:r>
            <a:endParaRPr lang="en-US" sz="1200" dirty="0"/>
          </a:p>
        </p:txBody>
      </p:sp>
      <p:sp>
        <p:nvSpPr>
          <p:cNvPr id="4" name="Text 2"/>
          <p:cNvSpPr/>
          <p:nvPr>
            <p:ph idx="102" type="title" hasCustomPrompt="1"/>
          </p:nvPr>
        </p:nvSpPr>
        <p:spPr>
          <a:xfrm>
            <a:off x="548640" y="777240"/>
            <a:ext cx="11091672" cy="731520"/>
          </a:xfrm>
          <a:prstGeom prst="rect">
            <a:avLst/>
          </a:prstGeom>
          <a:noFill/>
          <a:ln/>
        </p:spPr>
        <p:txBody>
          <a:bodyPr wrap="square" rtlCol="0"/>
          <a:lstStyle>
            <a:lvl1pPr algn="l" indent="0" marL="0">
              <a:buNone/>
              <a:defRPr lang="en-US" sz="3600" b="1" spc="-100" kern="0" dirty="0">
                <a:solidFill>
                  <a:schemeClr val="tx1"/>
                </a:solidFill>
              </a:defRPr>
            </a:lvl1pPr>
          </a:lstStyle>
          <a:p>
            <a:pPr algn="l" indent="0" marL="0">
              <a:buNone/>
            </a:pPr>
            <a:endParaRPr lang="en-US" sz="3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_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292608"/>
            <a:ext cx="4572000" cy="320040"/>
          </a:xfrm>
          <a:prstGeom prst="rect">
            <a:avLst/>
          </a:prstGeom>
          <a:noFill/>
          <a:ln/>
        </p:spPr>
        <p:txBody>
          <a:bodyPr wrap="square" lIns="0" tIns="0" rIns="0" bIns="0" rtlCol="0" anchor="ctr"/>
          <a:lstStyle/>
          <a:p>
            <a:pPr indent="0" marL="0">
              <a:buNone/>
            </a:pPr>
            <a:r>
              <a:rPr lang="en-US" sz="1400" b="1" dirty="0">
                <a:solidFill>
                  <a:schemeClr val="bg1"/>
                </a:solidFill>
              </a:rPr>
              <a:t>Qiskit Fall Fest 2026</a:t>
            </a:r>
            <a:endParaRPr lang="en-US" sz="1400" dirty="0"/>
          </a:p>
        </p:txBody>
      </p:sp>
      <p:sp>
        <p:nvSpPr>
          <p:cNvPr id="3" name="Text 1"/>
          <p:cNvSpPr/>
          <p:nvPr/>
        </p:nvSpPr>
        <p:spPr>
          <a:xfrm>
            <a:off x="7040880" y="292608"/>
            <a:ext cx="4599432" cy="320040"/>
          </a:xfrm>
          <a:prstGeom prst="rect">
            <a:avLst/>
          </a:prstGeom>
          <a:noFill/>
          <a:ln/>
        </p:spPr>
        <p:txBody>
          <a:bodyPr wrap="square" lIns="0" tIns="0" rIns="0" bIns="0" rtlCol="0" anchor="ctr"/>
          <a:lstStyle/>
          <a:p>
            <a:pPr algn="r" indent="0" marL="0">
              <a:buNone/>
            </a:pPr>
            <a:r>
              <a:rPr lang="en-US" sz="1200" dirty="0">
                <a:solidFill>
                  <a:schemeClr val="bg1"/>
                </a:solidFill>
              </a:rPr>
              <a:t>Track 3  |  Quantum Error Correction</a:t>
            </a:r>
            <a:endParaRPr lang="en-US" sz="1200" dirty="0"/>
          </a:p>
        </p:txBody>
      </p:sp>
      <p:sp>
        <p:nvSpPr>
          <p:cNvPr id="4" name="Text 2"/>
          <p:cNvSpPr/>
          <p:nvPr>
            <p:ph idx="102" type="title" hasCustomPrompt="1"/>
          </p:nvPr>
        </p:nvSpPr>
        <p:spPr>
          <a:xfrm>
            <a:off x="548640" y="777240"/>
            <a:ext cx="11091672" cy="731520"/>
          </a:xfrm>
          <a:prstGeom prst="rect">
            <a:avLst/>
          </a:prstGeom>
          <a:noFill/>
          <a:ln/>
        </p:spPr>
        <p:txBody>
          <a:bodyPr wrap="square" rtlCol="0"/>
          <a:lstStyle>
            <a:lvl1pPr algn="l" indent="0" marL="0">
              <a:buNone/>
              <a:defRPr lang="en-US" sz="3600" b="1" spc="-100" kern="0" dirty="0">
                <a:solidFill>
                  <a:schemeClr val="bg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5.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5.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idx="102" type="title" hasCustomPrompt="1"/>
          </p:nvPr>
        </p:nvSpPr>
        <p:spPr>
          <a:xfrm>
            <a:off x="548640" y="2926080"/>
            <a:ext cx="6675120" cy="3383280"/>
          </a:xfrm>
          <a:prstGeom prst="rect">
            <a:avLst/>
          </a:prstGeom>
          <a:noFill/>
          <a:ln/>
        </p:spPr>
        <p:txBody>
          <a:bodyPr wrap="square" lIns="0" tIns="0" rIns="0" bIns="0" rtlCol="0" anchor="b"/>
          <a:lstStyle/>
          <a:p>
            <a:pPr algn="l" indent="0" marL="0">
              <a:buNone/>
            </a:pPr>
            <a:r>
              <a:rPr lang="en-US" sz="5800" b="1" spc="-100" kern="0" dirty="0">
                <a:solidFill>
                  <a:schemeClr val="tx1"/>
                </a:solidFill>
              </a:rPr>
              <a:t>Beyond the Textbook:</a:t>
            </a:r>
            <a:endParaRPr lang="en-US" sz="5800" dirty="0"/>
          </a:p>
          <a:p>
            <a:pPr algn="l" indent="0" marL="0">
              <a:buNone/>
            </a:pPr>
            <a:r>
              <a:rPr lang="en-US" sz="2600" b="1" spc="-100" kern="0" dirty="0">
                <a:solidFill>
                  <a:schemeClr val="tx1"/>
                </a:solidFill>
              </a:rPr>
              <a:t>Smart Protection for Quantum Computers That Make Mistakes</a:t>
            </a:r>
            <a:endParaRPr lang="en-US" sz="5800" dirty="0"/>
          </a:p>
        </p:txBody>
      </p:sp>
      <p:sp>
        <p:nvSpPr>
          <p:cNvPr id="3" name="Sub-headline"/>
          <p:cNvSpPr txBox="1"/>
          <p:nvPr/>
        </p:nvSpPr>
        <p:spPr>
          <a:xfrm>
            <a:off x="7680960" y="4206240"/>
            <a:ext cx="3959352" cy="1645920"/>
          </a:xfrm>
          <a:prstGeom prst="rect">
            <a:avLst/>
          </a:prstGeom>
          <a:noFill/>
          <a:ln/>
        </p:spPr>
        <p:txBody>
          <a:bodyPr wrap="square" lIns="0" tIns="0" rIns="0" bIns="0" rtlCol="0" anchor="t"/>
          <a:lstStyle/>
          <a:p>
            <a:pPr indent="0" marL="0">
              <a:buNone/>
            </a:pPr>
            <a:r>
              <a:rPr lang="en-US" sz="1800" dirty="0">
                <a:solidFill>
                  <a:schemeClr val="tx1"/>
                </a:solidFill>
              </a:rPr>
              <a:t>Quantum computers make mistakes. We found out when fixing them helps, and built a smart program that picks the best fix.</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title" hasCustomPrompt="1"/>
          </p:nvPr>
        </p:nvSpPr>
        <p:spPr>
          <a:xfrm>
            <a:off x="548640" y="777240"/>
            <a:ext cx="11091672" cy="731520"/>
          </a:xfrm>
          <a:prstGeom prst="rect">
            <a:avLst/>
          </a:prstGeom>
          <a:noFill/>
          <a:ln/>
        </p:spPr>
        <p:txBody>
          <a:bodyPr wrap="square" lIns="0" tIns="0" rIns="0" bIns="0" rtlCol="0" anchor="ctr"/>
          <a:lstStyle/>
          <a:p>
            <a:pPr algn="l" indent="0" marL="0">
              <a:buNone/>
            </a:pPr>
            <a:r>
              <a:rPr lang="en-US" sz="3600" b="1" spc="-100" kern="0" dirty="0">
                <a:solidFill>
                  <a:schemeClr val="bg1"/>
                </a:solidFill>
              </a:rPr>
              <a:t>The Problem &amp; Our Approach</a:t>
            </a:r>
            <a:endParaRPr lang="en-US" sz="3600" dirty="0"/>
          </a:p>
        </p:txBody>
      </p:sp>
      <p:sp>
        <p:nvSpPr>
          <p:cNvPr id="3" name="Subtitle"/>
          <p:cNvSpPr txBox="1"/>
          <p:nvPr/>
        </p:nvSpPr>
        <p:spPr>
          <a:xfrm>
            <a:off x="548640" y="1536192"/>
            <a:ext cx="5486400" cy="365760"/>
          </a:xfrm>
          <a:prstGeom prst="rect">
            <a:avLst/>
          </a:prstGeom>
          <a:noFill/>
          <a:ln/>
        </p:spPr>
        <p:txBody>
          <a:bodyPr wrap="square" lIns="0" tIns="0" rIns="0" bIns="0" rtlCol="0" anchor="ctr"/>
          <a:lstStyle/>
          <a:p>
            <a:pPr indent="0" marL="0">
              <a:buNone/>
            </a:pPr>
            <a:r>
              <a:rPr lang="en-US" sz="1800" dirty="0">
                <a:solidFill>
                  <a:schemeClr val="accent2"/>
                </a:solidFill>
              </a:rPr>
              <a:t>What we set out to do</a:t>
            </a:r>
            <a:endParaRPr lang="en-US" sz="1800" dirty="0"/>
          </a:p>
        </p:txBody>
      </p:sp>
      <p:sp>
        <p:nvSpPr>
          <p:cNvPr id="4" name="Approach card"/>
          <p:cNvSpPr/>
          <p:nvPr/>
        </p:nvSpPr>
        <p:spPr>
          <a:xfrm>
            <a:off x="548640" y="2286000"/>
            <a:ext cx="11091672" cy="3566160"/>
          </a:xfrm>
          <a:prstGeom prst="roundRect">
            <a:avLst>
              <a:gd name="adj" fmla="val 8974"/>
            </a:avLst>
          </a:prstGeom>
          <a:solidFill>
            <a:schemeClr val="bg1">
              <a:alpha val="6000"/>
            </a:schemeClr>
          </a:solidFill>
          <a:ln w="12700">
            <a:solidFill>
              <a:schemeClr val="bg1">
                <a:alpha val="45000"/>
              </a:schemeClr>
            </a:solidFill>
            <a:prstDash val="solid"/>
          </a:ln>
        </p:spPr>
      </p:sp>
      <p:sp>
        <p:nvSpPr>
          <p:cNvPr id="5" name="Accent dot"/>
          <p:cNvSpPr/>
          <p:nvPr/>
        </p:nvSpPr>
        <p:spPr>
          <a:xfrm>
            <a:off x="914400" y="2697480"/>
            <a:ext cx="310896" cy="310896"/>
          </a:xfrm>
          <a:prstGeom prst="ellipse">
            <a:avLst/>
          </a:prstGeom>
          <a:solidFill>
            <a:schemeClr val="accent2"/>
          </a:solidFill>
          <a:ln w="12700">
            <a:solidFill>
              <a:schemeClr val="bg1">
                <a:alpha val="60000"/>
              </a:schemeClr>
            </a:solidFill>
            <a:prstDash val="solid"/>
          </a:ln>
        </p:spPr>
      </p:sp>
      <p:sp>
        <p:nvSpPr>
          <p:cNvPr id="6" name="Text 4"/>
          <p:cNvSpPr txBox="1"/>
          <p:nvPr/>
        </p:nvSpPr>
        <p:spPr>
          <a:xfrm>
            <a:off x="1371600" y="2651760"/>
            <a:ext cx="2599944" cy="502920"/>
          </a:xfrm>
          <a:prstGeom prst="rect">
            <a:avLst/>
          </a:prstGeom>
          <a:noFill/>
          <a:ln/>
        </p:spPr>
        <p:txBody>
          <a:bodyPr wrap="square" lIns="0" tIns="0" rIns="0" bIns="0" rtlCol="0" anchor="ctr"/>
          <a:lstStyle/>
          <a:p>
            <a:pPr indent="0" marL="0">
              <a:buNone/>
            </a:pPr>
            <a:r>
              <a:rPr lang="en-US" sz="1800" b="1" dirty="0">
                <a:solidFill>
                  <a:schemeClr val="bg1"/>
                </a:solidFill>
              </a:rPr>
              <a:t>Real Data</a:t>
            </a:r>
            <a:endParaRPr lang="en-US" sz="1800" dirty="0"/>
          </a:p>
        </p:txBody>
      </p:sp>
      <p:sp>
        <p:nvSpPr>
          <p:cNvPr id="7" name="Column body 1"/>
          <p:cNvSpPr txBox="1"/>
          <p:nvPr/>
        </p:nvSpPr>
        <p:spPr>
          <a:xfrm>
            <a:off x="914400" y="3383280"/>
            <a:ext cx="2965704" cy="2286000"/>
          </a:xfrm>
          <a:prstGeom prst="rect">
            <a:avLst/>
          </a:prstGeom>
          <a:noFill/>
          <a:ln/>
        </p:spPr>
        <p:txBody>
          <a:bodyPr wrap="square" lIns="0" tIns="0" rIns="0" bIns="0" rtlCol="0" anchor="t"/>
          <a:lstStyle/>
          <a:p>
            <a:pPr indent="0" marL="0">
              <a:buNone/>
            </a:pPr>
            <a:r>
              <a:rPr lang="en-US" sz="1600" dirty="0">
                <a:solidFill>
                  <a:schemeClr val="bg1"/>
                </a:solidFill>
              </a:rPr>
              <a:t>Real machines are messy. We used a real Kaggle dataset about quantum circuit stability to set how noisy our test computer is.</a:t>
            </a:r>
            <a:endParaRPr lang="en-US" sz="1600" dirty="0"/>
          </a:p>
        </p:txBody>
      </p:sp>
      <p:sp>
        <p:nvSpPr>
          <p:cNvPr id="8" name="Column divider"/>
          <p:cNvSpPr/>
          <p:nvPr/>
        </p:nvSpPr>
        <p:spPr>
          <a:xfrm>
            <a:off x="4245864" y="2651760"/>
            <a:ext cx="0" cy="2834640"/>
          </a:xfrm>
          <a:prstGeom prst="line">
            <a:avLst/>
          </a:prstGeom>
          <a:noFill/>
          <a:ln w="12700">
            <a:solidFill>
              <a:schemeClr val="bg1">
                <a:alpha val="45000"/>
              </a:schemeClr>
            </a:solidFill>
            <a:prstDash val="solid"/>
          </a:ln>
        </p:spPr>
      </p:sp>
      <p:sp>
        <p:nvSpPr>
          <p:cNvPr id="9" name="Accent dot"/>
          <p:cNvSpPr/>
          <p:nvPr/>
        </p:nvSpPr>
        <p:spPr>
          <a:xfrm>
            <a:off x="4611624" y="2697480"/>
            <a:ext cx="310896" cy="310896"/>
          </a:xfrm>
          <a:prstGeom prst="ellipse">
            <a:avLst/>
          </a:prstGeom>
          <a:solidFill>
            <a:schemeClr val="accent2"/>
          </a:solidFill>
          <a:ln w="12700">
            <a:solidFill>
              <a:schemeClr val="bg1">
                <a:alpha val="60000"/>
              </a:schemeClr>
            </a:solidFill>
            <a:prstDash val="solid"/>
          </a:ln>
        </p:spPr>
      </p:sp>
      <p:sp>
        <p:nvSpPr>
          <p:cNvPr id="10" name="Text 8"/>
          <p:cNvSpPr txBox="1"/>
          <p:nvPr/>
        </p:nvSpPr>
        <p:spPr>
          <a:xfrm>
            <a:off x="5068824" y="2651760"/>
            <a:ext cx="2599944" cy="502920"/>
          </a:xfrm>
          <a:prstGeom prst="rect">
            <a:avLst/>
          </a:prstGeom>
          <a:noFill/>
          <a:ln/>
        </p:spPr>
        <p:txBody>
          <a:bodyPr wrap="square" lIns="0" tIns="0" rIns="0" bIns="0" rtlCol="0" anchor="ctr"/>
          <a:lstStyle/>
          <a:p>
            <a:pPr indent="0" marL="0">
              <a:buNone/>
            </a:pPr>
            <a:r>
              <a:rPr lang="en-US" sz="1800" b="1" dirty="0">
                <a:solidFill>
                  <a:schemeClr val="bg1"/>
                </a:solidFill>
              </a:rPr>
              <a:t>Realistic Test Setup</a:t>
            </a:r>
            <a:endParaRPr lang="en-US" sz="1800" dirty="0"/>
          </a:p>
        </p:txBody>
      </p:sp>
      <p:sp>
        <p:nvSpPr>
          <p:cNvPr id="11" name="Column body 2"/>
          <p:cNvSpPr txBox="1"/>
          <p:nvPr/>
        </p:nvSpPr>
        <p:spPr>
          <a:xfrm>
            <a:off x="4611624" y="3383280"/>
            <a:ext cx="2965704" cy="2286000"/>
          </a:xfrm>
          <a:prstGeom prst="rect">
            <a:avLst/>
          </a:prstGeom>
          <a:noFill/>
          <a:ln/>
        </p:spPr>
        <p:txBody>
          <a:bodyPr wrap="square" lIns="0" tIns="0" rIns="0" bIns="0" rtlCol="0" anchor="t"/>
          <a:lstStyle/>
          <a:p>
            <a:pPr indent="0" marL="0">
              <a:buNone/>
            </a:pPr>
            <a:r>
              <a:rPr lang="en-US" sz="1600" dirty="0">
                <a:solidFill>
                  <a:schemeClr val="bg1"/>
                </a:solidFill>
              </a:rPr>
              <a:t>We built a full test in Qiskit that copies real problems: gates that make mistakes, qubits that fade over time (T1/T2), and reading errors.</a:t>
            </a:r>
            <a:endParaRPr lang="en-US" sz="1600" dirty="0"/>
          </a:p>
        </p:txBody>
      </p:sp>
      <p:sp>
        <p:nvSpPr>
          <p:cNvPr id="12" name="Column divider"/>
          <p:cNvSpPr/>
          <p:nvPr/>
        </p:nvSpPr>
        <p:spPr>
          <a:xfrm>
            <a:off x="7943088" y="2651760"/>
            <a:ext cx="0" cy="2834640"/>
          </a:xfrm>
          <a:prstGeom prst="line">
            <a:avLst/>
          </a:prstGeom>
          <a:noFill/>
          <a:ln w="12700">
            <a:solidFill>
              <a:schemeClr val="bg1">
                <a:alpha val="45000"/>
              </a:schemeClr>
            </a:solidFill>
            <a:prstDash val="solid"/>
          </a:ln>
        </p:spPr>
      </p:sp>
      <p:sp>
        <p:nvSpPr>
          <p:cNvPr id="13" name="Accent dot"/>
          <p:cNvSpPr/>
          <p:nvPr/>
        </p:nvSpPr>
        <p:spPr>
          <a:xfrm>
            <a:off x="8308848" y="2697480"/>
            <a:ext cx="310896" cy="310896"/>
          </a:xfrm>
          <a:prstGeom prst="ellipse">
            <a:avLst/>
          </a:prstGeom>
          <a:solidFill>
            <a:schemeClr val="accent2"/>
          </a:solidFill>
          <a:ln w="12700">
            <a:solidFill>
              <a:schemeClr val="bg1">
                <a:alpha val="60000"/>
              </a:schemeClr>
            </a:solidFill>
            <a:prstDash val="solid"/>
          </a:ln>
        </p:spPr>
      </p:sp>
      <p:sp>
        <p:nvSpPr>
          <p:cNvPr id="14" name="Text 12"/>
          <p:cNvSpPr txBox="1"/>
          <p:nvPr/>
        </p:nvSpPr>
        <p:spPr>
          <a:xfrm>
            <a:off x="8766048" y="2651760"/>
            <a:ext cx="2599944" cy="502920"/>
          </a:xfrm>
          <a:prstGeom prst="rect">
            <a:avLst/>
          </a:prstGeom>
          <a:noFill/>
          <a:ln/>
        </p:spPr>
        <p:txBody>
          <a:bodyPr wrap="square" lIns="0" tIns="0" rIns="0" bIns="0" rtlCol="0" anchor="ctr"/>
          <a:lstStyle/>
          <a:p>
            <a:pPr indent="0" marL="0">
              <a:buNone/>
            </a:pPr>
            <a:r>
              <a:rPr lang="en-US" sz="1800" b="1" dirty="0">
                <a:solidFill>
                  <a:schemeClr val="bg1"/>
                </a:solidFill>
              </a:rPr>
              <a:t>Smart Choice</a:t>
            </a:r>
            <a:endParaRPr lang="en-US" sz="1800" dirty="0"/>
          </a:p>
        </p:txBody>
      </p:sp>
      <p:sp>
        <p:nvSpPr>
          <p:cNvPr id="15" name="Column body 3"/>
          <p:cNvSpPr txBox="1"/>
          <p:nvPr/>
        </p:nvSpPr>
        <p:spPr>
          <a:xfrm>
            <a:off x="8308848" y="3383280"/>
            <a:ext cx="2965704" cy="2286000"/>
          </a:xfrm>
          <a:prstGeom prst="rect">
            <a:avLst/>
          </a:prstGeom>
          <a:noFill/>
          <a:ln/>
        </p:spPr>
        <p:txBody>
          <a:bodyPr wrap="square" lIns="0" tIns="0" rIns="0" bIns="0" rtlCol="0" anchor="t"/>
          <a:lstStyle/>
          <a:p>
            <a:pPr indent="0" marL="0">
              <a:buNone/>
            </a:pPr>
            <a:r>
              <a:rPr lang="en-US" sz="1600" dirty="0">
                <a:solidFill>
                  <a:schemeClr val="bg1"/>
                </a:solidFill>
              </a:rPr>
              <a:t>Why guess the best fix? Our smart program (machine learning) picks between no protection, Dynamical Decoupling (regular nudges), or 3-qubit error correction.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548640" y="822960"/>
            <a:ext cx="4754880" cy="5394960"/>
          </a:xfrm>
          <a:prstGeom prst="rect">
            <a:avLst/>
          </a:prstGeom>
          <a:noFill/>
          <a:ln/>
        </p:spPr>
        <p:txBody>
          <a:bodyPr wrap="square" lIns="0" tIns="0" rIns="0" bIns="0" rtlCol="0" anchor="ctr"/>
          <a:lstStyle/>
          <a:p>
            <a:pPr algn="l" indent="0" marL="0">
              <a:buNone/>
            </a:pPr>
            <a:r>
              <a:rPr lang="en-US" sz="4000" b="1" spc="-100" kern="0" dirty="0">
                <a:solidFill>
                  <a:schemeClr val="tx1"/>
                </a:solidFill>
              </a:rPr>
              <a:t>How We Built It &amp; Used Real Data</a:t>
            </a:r>
            <a:endParaRPr lang="en-US" sz="4000" dirty="0"/>
          </a:p>
        </p:txBody>
      </p:sp>
      <p:sp>
        <p:nvSpPr>
          <p:cNvPr id="3" name="Engine card"/>
          <p:cNvSpPr/>
          <p:nvPr/>
        </p:nvSpPr>
        <p:spPr>
          <a:xfrm>
            <a:off x="5760720" y="685800"/>
            <a:ext cx="5879592" cy="5486400"/>
          </a:xfrm>
          <a:prstGeom prst="roundRect">
            <a:avLst>
              <a:gd name="adj" fmla="val 5833"/>
            </a:avLst>
          </a:prstGeom>
          <a:solidFill>
            <a:schemeClr val="bg1">
              <a:alpha val="38000"/>
            </a:schemeClr>
          </a:solidFill>
          <a:ln w="12700">
            <a:solidFill>
              <a:schemeClr val="tx1">
                <a:alpha val="65000"/>
              </a:schemeClr>
            </a:solidFill>
            <a:prstDash val="solid"/>
          </a:ln>
        </p:spPr>
      </p:sp>
      <p:pic>
        <p:nvPicPr>
          <p:cNvPr id="4" name="Image 0" descr="Database icon">    </p:cNvPr>
          <p:cNvPicPr>
            <a:picLocks noChangeAspect="1"/>
          </p:cNvPicPr>
          <p:nvPr/>
        </p:nvPicPr>
        <p:blipFill>
          <a:blip r:embed="rId1"/>
          <a:stretch>
            <a:fillRect/>
          </a:stretch>
        </p:blipFill>
        <p:spPr>
          <a:xfrm>
            <a:off x="6172200" y="1051560"/>
            <a:ext cx="548640" cy="548640"/>
          </a:xfrm>
          <a:prstGeom prst="rect">
            <a:avLst/>
          </a:prstGeom>
        </p:spPr>
      </p:pic>
      <p:sp>
        <p:nvSpPr>
          <p:cNvPr id="5" name="Text 2"/>
          <p:cNvSpPr txBox="1"/>
          <p:nvPr/>
        </p:nvSpPr>
        <p:spPr>
          <a:xfrm>
            <a:off x="6995160" y="1005840"/>
            <a:ext cx="4297680" cy="365760"/>
          </a:xfrm>
          <a:prstGeom prst="rect">
            <a:avLst/>
          </a:prstGeom>
          <a:noFill/>
          <a:ln/>
        </p:spPr>
        <p:txBody>
          <a:bodyPr wrap="square" lIns="0" tIns="0" rIns="0" bIns="0" rtlCol="0" anchor="ctr"/>
          <a:lstStyle/>
          <a:p>
            <a:pPr indent="0" marL="0">
              <a:buNone/>
            </a:pPr>
            <a:r>
              <a:rPr lang="en-US" sz="1800" b="1" dirty="0">
                <a:solidFill>
                  <a:schemeClr val="tx1"/>
                </a:solidFill>
              </a:rPr>
              <a:t>Turning Data into Noise</a:t>
            </a:r>
            <a:endParaRPr lang="en-US" sz="1800" dirty="0"/>
          </a:p>
        </p:txBody>
      </p:sp>
      <p:sp>
        <p:nvSpPr>
          <p:cNvPr id="6" name="Engine item 1"/>
          <p:cNvSpPr txBox="1"/>
          <p:nvPr/>
        </p:nvSpPr>
        <p:spPr>
          <a:xfrm>
            <a:off x="6995160" y="1463040"/>
            <a:ext cx="4297680" cy="1097280"/>
          </a:xfrm>
          <a:prstGeom prst="rect">
            <a:avLst/>
          </a:prstGeom>
          <a:noFill/>
          <a:ln/>
        </p:spPr>
        <p:txBody>
          <a:bodyPr wrap="square" lIns="0" tIns="0" rIns="0" bIns="0" rtlCol="0" anchor="t"/>
          <a:lstStyle/>
          <a:p>
            <a:pPr indent="0" marL="0">
              <a:buNone/>
            </a:pPr>
            <a:r>
              <a:rPr lang="en-US" sz="1400" dirty="0">
                <a:solidFill>
                  <a:schemeClr val="tx1"/>
                </a:solidFill>
              </a:rPr>
              <a:t>We take numbers from the Kaggle data (gate error rate, how fast qubits fade) and turn them into noise in Qiskit.</a:t>
            </a:r>
            <a:endParaRPr lang="en-US" sz="1400" dirty="0"/>
          </a:p>
        </p:txBody>
      </p:sp>
      <p:pic>
        <p:nvPicPr>
          <p:cNvPr id="7" name="Image 1" descr="Repeat icon">    </p:cNvPr>
          <p:cNvPicPr>
            <a:picLocks noChangeAspect="1"/>
          </p:cNvPicPr>
          <p:nvPr/>
        </p:nvPicPr>
        <p:blipFill>
          <a:blip r:embed="rId2"/>
          <a:stretch>
            <a:fillRect/>
          </a:stretch>
        </p:blipFill>
        <p:spPr>
          <a:xfrm>
            <a:off x="6172200" y="2697480"/>
            <a:ext cx="548640" cy="548640"/>
          </a:xfrm>
          <a:prstGeom prst="rect">
            <a:avLst/>
          </a:prstGeom>
        </p:spPr>
      </p:pic>
      <p:sp>
        <p:nvSpPr>
          <p:cNvPr id="8" name="Text 4"/>
          <p:cNvSpPr txBox="1"/>
          <p:nvPr/>
        </p:nvSpPr>
        <p:spPr>
          <a:xfrm>
            <a:off x="6995160" y="2651760"/>
            <a:ext cx="4297680" cy="365760"/>
          </a:xfrm>
          <a:prstGeom prst="rect">
            <a:avLst/>
          </a:prstGeom>
          <a:noFill/>
          <a:ln/>
        </p:spPr>
        <p:txBody>
          <a:bodyPr wrap="square" lIns="0" tIns="0" rIns="0" bIns="0" rtlCol="0" anchor="ctr"/>
          <a:lstStyle/>
          <a:p>
            <a:pPr indent="0" marL="0">
              <a:buNone/>
            </a:pPr>
            <a:r>
              <a:rPr lang="en-US" sz="1800" b="1" dirty="0">
                <a:solidFill>
                  <a:schemeClr val="tx1"/>
                </a:solidFill>
              </a:rPr>
              <a:t>How We Check Results</a:t>
            </a:r>
            <a:endParaRPr lang="en-US" sz="1800" dirty="0"/>
          </a:p>
        </p:txBody>
      </p:sp>
      <p:sp>
        <p:nvSpPr>
          <p:cNvPr id="9" name="Engine item 2"/>
          <p:cNvSpPr txBox="1"/>
          <p:nvPr/>
        </p:nvSpPr>
        <p:spPr>
          <a:xfrm>
            <a:off x="6995160" y="3108960"/>
            <a:ext cx="4297680" cy="1097280"/>
          </a:xfrm>
          <a:prstGeom prst="rect">
            <a:avLst/>
          </a:prstGeom>
          <a:noFill/>
          <a:ln/>
        </p:spPr>
        <p:txBody>
          <a:bodyPr wrap="square" lIns="0" tIns="0" rIns="0" bIns="0" rtlCol="0" anchor="t"/>
          <a:lstStyle/>
          <a:p>
            <a:pPr indent="0" marL="0">
              <a:buNone/>
            </a:pPr>
            <a:r>
              <a:rPr lang="en-US" sz="1400" dirty="0">
                <a:solidFill>
                  <a:schemeClr val="tx1"/>
                </a:solidFill>
              </a:rPr>
              <a:t>We put a qubit in a known state, add noise, then undo everything. If all is perfect, the answer is exactly 0. This keeps checking quick and simple.</a:t>
            </a:r>
            <a:endParaRPr lang="en-US" sz="1400" dirty="0"/>
          </a:p>
        </p:txBody>
      </p:sp>
      <p:pic>
        <p:nvPicPr>
          <p:cNvPr id="10" name="Image 2" descr="Layers icon">    </p:cNvPr>
          <p:cNvPicPr>
            <a:picLocks noChangeAspect="1"/>
          </p:cNvPicPr>
          <p:nvPr/>
        </p:nvPicPr>
        <p:blipFill>
          <a:blip r:embed="rId3"/>
          <a:stretch>
            <a:fillRect/>
          </a:stretch>
        </p:blipFill>
        <p:spPr>
          <a:xfrm>
            <a:off x="6172200" y="4434840"/>
            <a:ext cx="548640" cy="548640"/>
          </a:xfrm>
          <a:prstGeom prst="rect">
            <a:avLst/>
          </a:prstGeom>
        </p:spPr>
      </p:pic>
      <p:sp>
        <p:nvSpPr>
          <p:cNvPr id="11" name="Text 6"/>
          <p:cNvSpPr txBox="1"/>
          <p:nvPr/>
        </p:nvSpPr>
        <p:spPr>
          <a:xfrm>
            <a:off x="6995160" y="4389120"/>
            <a:ext cx="4297680" cy="365760"/>
          </a:xfrm>
          <a:prstGeom prst="rect">
            <a:avLst/>
          </a:prstGeom>
          <a:noFill/>
          <a:ln/>
        </p:spPr>
        <p:txBody>
          <a:bodyPr wrap="square" lIns="0" tIns="0" rIns="0" bIns="0" rtlCol="0" anchor="ctr"/>
          <a:lstStyle/>
          <a:p>
            <a:pPr indent="0" marL="0">
              <a:buNone/>
            </a:pPr>
            <a:r>
              <a:rPr lang="en-US" sz="1800" b="1" dirty="0">
                <a:solidFill>
                  <a:schemeClr val="tx1"/>
                </a:solidFill>
              </a:rPr>
              <a:t>The 3 Options We Test</a:t>
            </a:r>
            <a:endParaRPr lang="en-US" sz="1800" dirty="0"/>
          </a:p>
        </p:txBody>
      </p:sp>
      <p:sp>
        <p:nvSpPr>
          <p:cNvPr id="12" name="Engine item 3"/>
          <p:cNvSpPr txBox="1"/>
          <p:nvPr/>
        </p:nvSpPr>
        <p:spPr>
          <a:xfrm>
            <a:off x="6995160" y="4846320"/>
            <a:ext cx="4297680" cy="1097280"/>
          </a:xfrm>
          <a:prstGeom prst="rect">
            <a:avLst/>
          </a:prstGeom>
          <a:noFill/>
          <a:ln/>
        </p:spPr>
        <p:txBody>
          <a:bodyPr wrap="square" lIns="0" tIns="0" rIns="0" bIns="0" rtlCol="0" anchor="t"/>
          <a:lstStyle/>
          <a:p>
            <a:pPr indent="0" marL="0">
              <a:buNone/>
            </a:pPr>
            <a:r>
              <a:rPr lang="en-US" sz="1400" dirty="0">
                <a:solidFill>
                  <a:schemeClr val="tx1"/>
                </a:solidFill>
              </a:rPr>
              <a:t>No protection, Dynamical Decoupling (regular nudges), and 3-qubit codes for bit-flip and phase-flip errors.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548640" y="777240"/>
            <a:ext cx="11091672" cy="731520"/>
          </a:xfrm>
          <a:prstGeom prst="rect">
            <a:avLst/>
          </a:prstGeom>
          <a:noFill/>
          <a:ln/>
        </p:spPr>
        <p:txBody>
          <a:bodyPr wrap="square" lIns="0" tIns="0" rIns="0" bIns="0" rtlCol="0" anchor="ctr"/>
          <a:lstStyle/>
          <a:p>
            <a:pPr algn="l" indent="0" marL="0">
              <a:buNone/>
            </a:pPr>
            <a:r>
              <a:rPr lang="en-US" sz="3600" b="1" spc="-100" kern="0" dirty="0">
                <a:solidFill>
                  <a:schemeClr val="bg1"/>
                </a:solidFill>
              </a:rPr>
              <a:t>First, Checking Our Tool</a:t>
            </a:r>
            <a:endParaRPr lang="en-US" sz="3600" dirty="0"/>
          </a:p>
        </p:txBody>
      </p:sp>
      <p:sp>
        <p:nvSpPr>
          <p:cNvPr id="3" name="Subtitle"/>
          <p:cNvSpPr txBox="1"/>
          <p:nvPr/>
        </p:nvSpPr>
        <p:spPr>
          <a:xfrm>
            <a:off x="548640" y="1536192"/>
            <a:ext cx="5486400" cy="365760"/>
          </a:xfrm>
          <a:prstGeom prst="rect">
            <a:avLst/>
          </a:prstGeom>
          <a:noFill/>
          <a:ln/>
        </p:spPr>
        <p:txBody>
          <a:bodyPr wrap="square" lIns="0" tIns="0" rIns="0" bIns="0" rtlCol="0" anchor="ctr"/>
          <a:lstStyle/>
          <a:p>
            <a:pPr indent="0" marL="0">
              <a:buNone/>
            </a:pPr>
            <a:r>
              <a:rPr lang="en-US" sz="1800" dirty="0">
                <a:solidFill>
                  <a:schemeClr val="accent2"/>
                </a:solidFill>
              </a:rPr>
              <a:t>Maths vs. our simulation</a:t>
            </a:r>
            <a:endParaRPr lang="en-US" sz="1800" dirty="0"/>
          </a:p>
        </p:txBody>
      </p:sp>
      <p:pic>
        <p:nvPicPr>
          <p:cNvPr id="4" name="Figure theory.png" descr="Six-state average and |1&gt; only fidelity versus bit-flip probability, simulation against theory">    </p:cNvPr>
          <p:cNvPicPr>
            <a:picLocks noChangeAspect="1"/>
          </p:cNvPicPr>
          <p:nvPr/>
        </p:nvPicPr>
        <p:blipFill>
          <a:blip r:embed="rId1"/>
          <a:stretch>
            <a:fillRect/>
          </a:stretch>
        </p:blipFill>
        <p:spPr>
          <a:xfrm>
            <a:off x="548640" y="2606040"/>
            <a:ext cx="7498080" cy="2680309"/>
          </a:xfrm>
          <a:prstGeom prst="rect">
            <a:avLst/>
          </a:prstGeom>
        </p:spPr>
      </p:pic>
      <p:sp>
        <p:nvSpPr>
          <p:cNvPr id="5" name="Figure caption"/>
          <p:cNvSpPr txBox="1"/>
          <p:nvPr/>
        </p:nvSpPr>
        <p:spPr>
          <a:xfrm>
            <a:off x="548640" y="5423509"/>
            <a:ext cx="7498080" cy="320040"/>
          </a:xfrm>
          <a:prstGeom prst="rect">
            <a:avLst/>
          </a:prstGeom>
          <a:noFill/>
          <a:ln/>
        </p:spPr>
        <p:txBody>
          <a:bodyPr wrap="square" lIns="0" tIns="0" rIns="0" bIns="0" rtlCol="0" anchor="ctr"/>
          <a:lstStyle/>
          <a:p>
            <a:pPr indent="0" marL="0">
              <a:buNone/>
            </a:pPr>
            <a:r>
              <a:rPr lang="en-US" sz="1300" dirty="0">
                <a:solidFill>
                  <a:schemeClr val="accent2"/>
                </a:solidFill>
              </a:rPr>
              <a:t>Our simulation matches the textbook maths.</a:t>
            </a:r>
            <a:endParaRPr lang="en-US" sz="1300" dirty="0"/>
          </a:p>
        </p:txBody>
      </p:sp>
      <p:sp>
        <p:nvSpPr>
          <p:cNvPr id="6" name="Baseline notes card"/>
          <p:cNvSpPr/>
          <p:nvPr/>
        </p:nvSpPr>
        <p:spPr>
          <a:xfrm>
            <a:off x="8412480" y="2148840"/>
            <a:ext cx="3227832" cy="4023360"/>
          </a:xfrm>
          <a:prstGeom prst="roundRect">
            <a:avLst>
              <a:gd name="adj" fmla="val 9915"/>
            </a:avLst>
          </a:prstGeom>
          <a:solidFill>
            <a:schemeClr val="bg1">
              <a:alpha val="6000"/>
            </a:schemeClr>
          </a:solidFill>
          <a:ln w="12700">
            <a:solidFill>
              <a:schemeClr val="bg1">
                <a:alpha val="45000"/>
              </a:schemeClr>
            </a:solidFill>
            <a:prstDash val="solid"/>
          </a:ln>
        </p:spPr>
      </p:sp>
      <p:sp>
        <p:nvSpPr>
          <p:cNvPr id="7" name="Text 4"/>
          <p:cNvSpPr txBox="1"/>
          <p:nvPr/>
        </p:nvSpPr>
        <p:spPr>
          <a:xfrm>
            <a:off x="8686800" y="2377440"/>
            <a:ext cx="2697480" cy="365760"/>
          </a:xfrm>
          <a:prstGeom prst="rect">
            <a:avLst/>
          </a:prstGeom>
          <a:noFill/>
          <a:ln/>
        </p:spPr>
        <p:txBody>
          <a:bodyPr wrap="square" lIns="0" tIns="0" rIns="0" bIns="0" rtlCol="0" anchor="ctr"/>
          <a:lstStyle/>
          <a:p>
            <a:pPr indent="0" marL="0">
              <a:buNone/>
            </a:pPr>
            <a:r>
              <a:rPr lang="en-US" sz="1600" b="1" dirty="0">
                <a:solidFill>
                  <a:schemeClr val="accent2"/>
                </a:solidFill>
              </a:rPr>
              <a:t>Does It Match the Maths?</a:t>
            </a:r>
            <a:endParaRPr lang="en-US" sz="1600" dirty="0"/>
          </a:p>
        </p:txBody>
      </p:sp>
      <p:sp>
        <p:nvSpPr>
          <p:cNvPr id="8" name="Theoretical Validation text"/>
          <p:cNvSpPr txBox="1"/>
          <p:nvPr/>
        </p:nvSpPr>
        <p:spPr>
          <a:xfrm>
            <a:off x="8686800" y="2788920"/>
            <a:ext cx="2697480" cy="1417320"/>
          </a:xfrm>
          <a:prstGeom prst="rect">
            <a:avLst/>
          </a:prstGeom>
          <a:noFill/>
          <a:ln/>
        </p:spPr>
        <p:txBody>
          <a:bodyPr wrap="square" lIns="0" tIns="0" rIns="0" bIns="0" rtlCol="0" anchor="t"/>
          <a:lstStyle/>
          <a:p>
            <a:pPr indent="0" marL="0">
              <a:buNone/>
            </a:pPr>
            <a:r>
              <a:rPr lang="en-US" sz="1400" dirty="0">
                <a:solidFill>
                  <a:schemeClr val="bg1"/>
                </a:solidFill>
              </a:rPr>
              <a:t>With perfect gates, our simulation gives exactly the answer the textbook formula predicts. So we can trust it.</a:t>
            </a:r>
            <a:endParaRPr lang="en-US" sz="1400" dirty="0"/>
          </a:p>
        </p:txBody>
      </p:sp>
      <p:sp>
        <p:nvSpPr>
          <p:cNvPr id="9" name="Text 6"/>
          <p:cNvSpPr txBox="1"/>
          <p:nvPr/>
        </p:nvSpPr>
        <p:spPr>
          <a:xfrm>
            <a:off x="8686800" y="4297680"/>
            <a:ext cx="2697480" cy="365760"/>
          </a:xfrm>
          <a:prstGeom prst="rect">
            <a:avLst/>
          </a:prstGeom>
          <a:noFill/>
          <a:ln/>
        </p:spPr>
        <p:txBody>
          <a:bodyPr wrap="square" lIns="0" tIns="0" rIns="0" bIns="0" rtlCol="0" anchor="ctr"/>
          <a:lstStyle/>
          <a:p>
            <a:pPr indent="0" marL="0">
              <a:buNone/>
            </a:pPr>
            <a:r>
              <a:rPr lang="en-US" sz="1600" b="1" dirty="0">
                <a:solidFill>
                  <a:schemeClr val="accent2"/>
                </a:solidFill>
              </a:rPr>
              <a:t>Wrong Tool, Worse Result</a:t>
            </a:r>
            <a:endParaRPr lang="en-US" sz="1600" dirty="0"/>
          </a:p>
        </p:txBody>
      </p:sp>
      <p:sp>
        <p:nvSpPr>
          <p:cNvPr id="10" name="Axis Mismatch text"/>
          <p:cNvSpPr txBox="1"/>
          <p:nvPr/>
        </p:nvSpPr>
        <p:spPr>
          <a:xfrm>
            <a:off x="8686800" y="4709160"/>
            <a:ext cx="2697480" cy="1325880"/>
          </a:xfrm>
          <a:prstGeom prst="rect">
            <a:avLst/>
          </a:prstGeom>
          <a:noFill/>
          <a:ln/>
        </p:spPr>
        <p:txBody>
          <a:bodyPr wrap="square" lIns="0" tIns="0" rIns="0" bIns="0" rtlCol="0" anchor="t"/>
          <a:lstStyle/>
          <a:p>
            <a:pPr indent="0" marL="0">
              <a:buNone/>
            </a:pPr>
            <a:r>
              <a:rPr lang="en-US" sz="1400" dirty="0">
                <a:solidFill>
                  <a:schemeClr val="bg1"/>
                </a:solidFill>
              </a:rPr>
              <a:t>A code made for bit-flip errors does worse than doing nothing when the noise is phase errors.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title" hasCustomPrompt="1"/>
          </p:nvPr>
        </p:nvSpPr>
        <p:spPr>
          <a:xfrm>
            <a:off x="548640" y="777240"/>
            <a:ext cx="11091672" cy="731520"/>
          </a:xfrm>
          <a:prstGeom prst="rect">
            <a:avLst/>
          </a:prstGeom>
          <a:noFill/>
          <a:ln/>
        </p:spPr>
        <p:txBody>
          <a:bodyPr wrap="square" lIns="0" tIns="0" rIns="0" bIns="0" rtlCol="0" anchor="ctr"/>
          <a:lstStyle/>
          <a:p>
            <a:pPr algn="l" indent="0" marL="0">
              <a:buNone/>
            </a:pPr>
            <a:r>
              <a:rPr lang="en-US" sz="3600" b="1" spc="-100" kern="0" dirty="0">
                <a:solidFill>
                  <a:schemeClr val="bg1"/>
                </a:solidFill>
              </a:rPr>
              <a:t>Longer Waiting = More Errors</a:t>
            </a:r>
            <a:endParaRPr lang="en-US" sz="3600" dirty="0"/>
          </a:p>
        </p:txBody>
      </p:sp>
      <p:sp>
        <p:nvSpPr>
          <p:cNvPr id="3" name="Subtitle"/>
          <p:cNvSpPr txBox="1"/>
          <p:nvPr/>
        </p:nvSpPr>
        <p:spPr>
          <a:xfrm>
            <a:off x="548640" y="1536192"/>
            <a:ext cx="10972800" cy="365760"/>
          </a:xfrm>
          <a:prstGeom prst="rect">
            <a:avLst/>
          </a:prstGeom>
          <a:noFill/>
          <a:ln/>
        </p:spPr>
        <p:txBody>
          <a:bodyPr wrap="square" lIns="0" tIns="0" rIns="0" bIns="0" rtlCol="0" anchor="ctr"/>
          <a:lstStyle/>
          <a:p>
            <a:pPr indent="0" marL="0">
              <a:buNone/>
            </a:pPr>
            <a:r>
              <a:rPr lang="en-US" sz="1800" dirty="0">
                <a:solidFill>
                  <a:schemeClr val="accent2"/>
                </a:solidFill>
              </a:rPr>
              <a:t>The longer a qubit waits, the more it is damaged. Checking regularly keeps it safer.</a:t>
            </a:r>
            <a:endParaRPr lang="en-US" sz="1800" dirty="0"/>
          </a:p>
        </p:txBody>
      </p:sp>
      <p:pic>
        <p:nvPicPr>
          <p:cNvPr id="4" name="Figure storage.png" descr="Fidelity versus storage slots for unprotected, one-round and repeated-round codes, with ideal gates and with noisy gates">    </p:cNvPr>
          <p:cNvPicPr>
            <a:picLocks noChangeAspect="1"/>
          </p:cNvPicPr>
          <p:nvPr/>
        </p:nvPicPr>
        <p:blipFill>
          <a:blip r:embed="rId1"/>
          <a:stretch>
            <a:fillRect/>
          </a:stretch>
        </p:blipFill>
        <p:spPr>
          <a:xfrm>
            <a:off x="548640" y="2148840"/>
            <a:ext cx="10881360" cy="388971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title" hasCustomPrompt="1"/>
          </p:nvPr>
        </p:nvSpPr>
        <p:spPr>
          <a:xfrm>
            <a:off x="548640" y="777240"/>
            <a:ext cx="11091672" cy="731520"/>
          </a:xfrm>
          <a:prstGeom prst="rect">
            <a:avLst/>
          </a:prstGeom>
          <a:noFill/>
          <a:ln/>
        </p:spPr>
        <p:txBody>
          <a:bodyPr wrap="square" lIns="0" tIns="0" rIns="0" bIns="0" rtlCol="0" anchor="ctr"/>
          <a:lstStyle/>
          <a:p>
            <a:pPr algn="l" indent="0" marL="0">
              <a:buNone/>
            </a:pPr>
            <a:r>
              <a:rPr lang="en-US" sz="3600" b="1" spc="-100" kern="0" dirty="0">
                <a:solidFill>
                  <a:schemeClr val="tx1"/>
                </a:solidFill>
              </a:rPr>
              <a:t>Map: When Does Protection Help?</a:t>
            </a:r>
            <a:endParaRPr lang="en-US" sz="3600" dirty="0"/>
          </a:p>
        </p:txBody>
      </p:sp>
      <p:pic>
        <p:nvPicPr>
          <p:cNvPr id="3" name="Figure crossover.png" descr="Pseudo-threshold heatmap of fidelity gain over CNOT error and storage bit-flip probability">    </p:cNvPr>
          <p:cNvPicPr>
            <a:picLocks noChangeAspect="1"/>
          </p:cNvPicPr>
          <p:nvPr/>
        </p:nvPicPr>
        <p:blipFill>
          <a:blip r:embed="rId1"/>
          <a:stretch>
            <a:fillRect/>
          </a:stretch>
        </p:blipFill>
        <p:spPr>
          <a:xfrm>
            <a:off x="548640" y="1783080"/>
            <a:ext cx="5486400" cy="4379205"/>
          </a:xfrm>
          <a:prstGeom prst="rect">
            <a:avLst/>
          </a:prstGeom>
        </p:spPr>
      </p:pic>
      <p:sp>
        <p:nvSpPr>
          <p:cNvPr id="4" name="Legend card"/>
          <p:cNvSpPr/>
          <p:nvPr/>
        </p:nvSpPr>
        <p:spPr>
          <a:xfrm>
            <a:off x="6400800" y="1783080"/>
            <a:ext cx="5239512" cy="4389120"/>
          </a:xfrm>
          <a:prstGeom prst="roundRect">
            <a:avLst>
              <a:gd name="adj" fmla="val 7292"/>
            </a:avLst>
          </a:prstGeom>
          <a:solidFill>
            <a:schemeClr val="bg1">
              <a:alpha val="38000"/>
            </a:schemeClr>
          </a:solidFill>
          <a:ln w="12700">
            <a:solidFill>
              <a:schemeClr val="tx1">
                <a:alpha val="65000"/>
              </a:schemeClr>
            </a:solidFill>
            <a:prstDash val="solid"/>
          </a:ln>
        </p:spPr>
      </p:sp>
      <p:sp>
        <p:nvSpPr>
          <p:cNvPr id="5" name="Legend chip 1"/>
          <p:cNvSpPr/>
          <p:nvPr/>
        </p:nvSpPr>
        <p:spPr>
          <a:xfrm>
            <a:off x="6812280" y="2139696"/>
            <a:ext cx="274320" cy="274320"/>
          </a:xfrm>
          <a:prstGeom prst="ellipse">
            <a:avLst/>
          </a:prstGeom>
          <a:solidFill>
            <a:schemeClr val="accent3"/>
          </a:solidFill>
          <a:ln w="9525">
            <a:solidFill>
              <a:schemeClr val="tx1">
                <a:alpha val="50000"/>
              </a:schemeClr>
            </a:solidFill>
            <a:prstDash val="solid"/>
          </a:ln>
        </p:spPr>
      </p:sp>
      <p:sp>
        <p:nvSpPr>
          <p:cNvPr id="6" name="Text 3"/>
          <p:cNvSpPr txBox="1"/>
          <p:nvPr/>
        </p:nvSpPr>
        <p:spPr>
          <a:xfrm>
            <a:off x="7269480" y="2103120"/>
            <a:ext cx="4114800" cy="347472"/>
          </a:xfrm>
          <a:prstGeom prst="rect">
            <a:avLst/>
          </a:prstGeom>
          <a:noFill/>
          <a:ln/>
        </p:spPr>
        <p:txBody>
          <a:bodyPr wrap="square" lIns="0" tIns="0" rIns="0" bIns="0" rtlCol="0" anchor="ctr"/>
          <a:lstStyle/>
          <a:p>
            <a:pPr indent="0" marL="0">
              <a:buNone/>
            </a:pPr>
            <a:r>
              <a:rPr lang="en-US" sz="1600" b="1" dirty="0">
                <a:solidFill>
                  <a:schemeClr val="tx1"/>
                </a:solidFill>
              </a:rPr>
              <a:t>Up-Down Axis</a:t>
            </a:r>
            <a:endParaRPr lang="en-US" sz="1600" dirty="0"/>
          </a:p>
        </p:txBody>
      </p:sp>
      <p:sp>
        <p:nvSpPr>
          <p:cNvPr id="7" name="Legend text 1"/>
          <p:cNvSpPr txBox="1"/>
          <p:nvPr/>
        </p:nvSpPr>
        <p:spPr>
          <a:xfrm>
            <a:off x="7269480" y="2487168"/>
            <a:ext cx="4114800" cy="640080"/>
          </a:xfrm>
          <a:prstGeom prst="rect">
            <a:avLst/>
          </a:prstGeom>
          <a:noFill/>
          <a:ln/>
        </p:spPr>
        <p:txBody>
          <a:bodyPr wrap="square" lIns="0" tIns="0" rIns="0" bIns="0" rtlCol="0" anchor="t"/>
          <a:lstStyle/>
          <a:p>
            <a:pPr indent="0" marL="0">
              <a:buNone/>
            </a:pPr>
            <a:r>
              <a:rPr lang="en-US" sz="1400" dirty="0">
                <a:solidFill>
                  <a:schemeClr val="tx1"/>
                </a:solidFill>
              </a:rPr>
              <a:t>How faulty the CNOT gate is.</a:t>
            </a:r>
            <a:endParaRPr lang="en-US" sz="1400" dirty="0"/>
          </a:p>
        </p:txBody>
      </p:sp>
      <p:sp>
        <p:nvSpPr>
          <p:cNvPr id="8" name="Legend chip 2"/>
          <p:cNvSpPr/>
          <p:nvPr/>
        </p:nvSpPr>
        <p:spPr>
          <a:xfrm>
            <a:off x="6812280" y="3054096"/>
            <a:ext cx="274320" cy="274320"/>
          </a:xfrm>
          <a:prstGeom prst="ellipse">
            <a:avLst/>
          </a:prstGeom>
          <a:solidFill>
            <a:schemeClr val="accent3"/>
          </a:solidFill>
          <a:ln w="9525">
            <a:solidFill>
              <a:schemeClr val="tx1">
                <a:alpha val="50000"/>
              </a:schemeClr>
            </a:solidFill>
            <a:prstDash val="solid"/>
          </a:ln>
        </p:spPr>
      </p:sp>
      <p:sp>
        <p:nvSpPr>
          <p:cNvPr id="9" name="Text 6"/>
          <p:cNvSpPr txBox="1"/>
          <p:nvPr/>
        </p:nvSpPr>
        <p:spPr>
          <a:xfrm>
            <a:off x="7269480" y="3017520"/>
            <a:ext cx="4114800" cy="347472"/>
          </a:xfrm>
          <a:prstGeom prst="rect">
            <a:avLst/>
          </a:prstGeom>
          <a:noFill/>
          <a:ln/>
        </p:spPr>
        <p:txBody>
          <a:bodyPr wrap="square" lIns="0" tIns="0" rIns="0" bIns="0" rtlCol="0" anchor="ctr"/>
          <a:lstStyle/>
          <a:p>
            <a:pPr indent="0" marL="0">
              <a:buNone/>
            </a:pPr>
            <a:r>
              <a:rPr lang="en-US" sz="1600" b="1" dirty="0">
                <a:solidFill>
                  <a:schemeClr val="tx1"/>
                </a:solidFill>
              </a:rPr>
              <a:t>Left-Right Axis</a:t>
            </a:r>
            <a:endParaRPr lang="en-US" sz="1600" dirty="0"/>
          </a:p>
        </p:txBody>
      </p:sp>
      <p:sp>
        <p:nvSpPr>
          <p:cNvPr id="10" name="Legend text 2"/>
          <p:cNvSpPr txBox="1"/>
          <p:nvPr/>
        </p:nvSpPr>
        <p:spPr>
          <a:xfrm>
            <a:off x="7269480" y="3401568"/>
            <a:ext cx="4114800" cy="640080"/>
          </a:xfrm>
          <a:prstGeom prst="rect">
            <a:avLst/>
          </a:prstGeom>
          <a:noFill/>
          <a:ln/>
        </p:spPr>
        <p:txBody>
          <a:bodyPr wrap="square" lIns="0" tIns="0" rIns="0" bIns="0" rtlCol="0" anchor="t"/>
          <a:lstStyle/>
          <a:p>
            <a:pPr indent="0" marL="0">
              <a:buNone/>
            </a:pPr>
            <a:r>
              <a:rPr lang="en-US" sz="1400" dirty="0">
                <a:solidFill>
                  <a:schemeClr val="tx1"/>
                </a:solidFill>
              </a:rPr>
              <a:t>Chance of a mistake while the qubit sits idle.</a:t>
            </a:r>
            <a:endParaRPr lang="en-US" sz="1400" dirty="0"/>
          </a:p>
        </p:txBody>
      </p:sp>
      <p:sp>
        <p:nvSpPr>
          <p:cNvPr id="11" name="Legend chip 3"/>
          <p:cNvSpPr/>
          <p:nvPr/>
        </p:nvSpPr>
        <p:spPr>
          <a:xfrm>
            <a:off x="6812280" y="3968496"/>
            <a:ext cx="274320" cy="274320"/>
          </a:xfrm>
          <a:prstGeom prst="ellipse">
            <a:avLst/>
          </a:prstGeom>
          <a:solidFill>
            <a:schemeClr val="accent5"/>
          </a:solidFill>
          <a:ln w="9525">
            <a:solidFill>
              <a:schemeClr val="tx1">
                <a:alpha val="50000"/>
              </a:schemeClr>
            </a:solidFill>
            <a:prstDash val="solid"/>
          </a:ln>
        </p:spPr>
      </p:sp>
      <p:sp>
        <p:nvSpPr>
          <p:cNvPr id="12" name="Text 9"/>
          <p:cNvSpPr txBox="1"/>
          <p:nvPr/>
        </p:nvSpPr>
        <p:spPr>
          <a:xfrm>
            <a:off x="7269480" y="3931920"/>
            <a:ext cx="4114800" cy="347472"/>
          </a:xfrm>
          <a:prstGeom prst="rect">
            <a:avLst/>
          </a:prstGeom>
          <a:noFill/>
          <a:ln/>
        </p:spPr>
        <p:txBody>
          <a:bodyPr wrap="square" lIns="0" tIns="0" rIns="0" bIns="0" rtlCol="0" anchor="ctr"/>
          <a:lstStyle/>
          <a:p>
            <a:pPr indent="0" marL="0">
              <a:buNone/>
            </a:pPr>
            <a:r>
              <a:rPr lang="en-US" sz="1600" b="1" dirty="0">
                <a:solidFill>
                  <a:schemeClr val="tx1"/>
                </a:solidFill>
              </a:rPr>
              <a:t>Green = Helps</a:t>
            </a:r>
            <a:endParaRPr lang="en-US" sz="1600" dirty="0"/>
          </a:p>
        </p:txBody>
      </p:sp>
      <p:sp>
        <p:nvSpPr>
          <p:cNvPr id="13" name="Legend text 3"/>
          <p:cNvSpPr txBox="1"/>
          <p:nvPr/>
        </p:nvSpPr>
        <p:spPr>
          <a:xfrm>
            <a:off x="7269480" y="4315968"/>
            <a:ext cx="4114800" cy="640080"/>
          </a:xfrm>
          <a:prstGeom prst="rect">
            <a:avLst/>
          </a:prstGeom>
          <a:noFill/>
          <a:ln/>
        </p:spPr>
        <p:txBody>
          <a:bodyPr wrap="square" lIns="0" tIns="0" rIns="0" bIns="0" rtlCol="0" anchor="t"/>
          <a:lstStyle/>
          <a:p>
            <a:pPr indent="0" marL="0">
              <a:buNone/>
            </a:pPr>
            <a:r>
              <a:rPr lang="en-US" sz="1400" dirty="0">
                <a:solidFill>
                  <a:schemeClr val="tx1"/>
                </a:solidFill>
              </a:rPr>
              <a:t>Protection fixes more mistakes than it causes.</a:t>
            </a:r>
            <a:endParaRPr lang="en-US" sz="1400" dirty="0"/>
          </a:p>
        </p:txBody>
      </p:sp>
      <p:sp>
        <p:nvSpPr>
          <p:cNvPr id="14" name="Legend chip 4"/>
          <p:cNvSpPr/>
          <p:nvPr/>
        </p:nvSpPr>
        <p:spPr>
          <a:xfrm>
            <a:off x="6812280" y="5065776"/>
            <a:ext cx="274320" cy="274320"/>
          </a:xfrm>
          <a:prstGeom prst="ellipse">
            <a:avLst/>
          </a:prstGeom>
          <a:solidFill>
            <a:schemeClr val="accent4"/>
          </a:solidFill>
          <a:ln w="9525">
            <a:solidFill>
              <a:schemeClr val="tx1">
                <a:alpha val="50000"/>
              </a:schemeClr>
            </a:solidFill>
            <a:prstDash val="solid"/>
          </a:ln>
        </p:spPr>
      </p:sp>
      <p:sp>
        <p:nvSpPr>
          <p:cNvPr id="15" name="Text 12"/>
          <p:cNvSpPr txBox="1"/>
          <p:nvPr/>
        </p:nvSpPr>
        <p:spPr>
          <a:xfrm>
            <a:off x="7269480" y="5029200"/>
            <a:ext cx="4114800" cy="347472"/>
          </a:xfrm>
          <a:prstGeom prst="rect">
            <a:avLst/>
          </a:prstGeom>
          <a:noFill/>
          <a:ln/>
        </p:spPr>
        <p:txBody>
          <a:bodyPr wrap="square" lIns="0" tIns="0" rIns="0" bIns="0" rtlCol="0" anchor="ctr"/>
          <a:lstStyle/>
          <a:p>
            <a:pPr indent="0" marL="0">
              <a:buNone/>
            </a:pPr>
            <a:r>
              <a:rPr lang="en-US" sz="1600" b="1" dirty="0">
                <a:solidFill>
                  <a:schemeClr val="tx1"/>
                </a:solidFill>
              </a:rPr>
              <a:t>Red = Hurts</a:t>
            </a:r>
            <a:endParaRPr lang="en-US" sz="1600" dirty="0"/>
          </a:p>
        </p:txBody>
      </p:sp>
      <p:sp>
        <p:nvSpPr>
          <p:cNvPr id="16" name="Legend text 4"/>
          <p:cNvSpPr txBox="1"/>
          <p:nvPr/>
        </p:nvSpPr>
        <p:spPr>
          <a:xfrm>
            <a:off x="7269480" y="5413248"/>
            <a:ext cx="4114800" cy="640080"/>
          </a:xfrm>
          <a:prstGeom prst="rect">
            <a:avLst/>
          </a:prstGeom>
          <a:noFill/>
          <a:ln/>
        </p:spPr>
        <p:txBody>
          <a:bodyPr wrap="square" lIns="0" tIns="0" rIns="0" bIns="0" rtlCol="0" anchor="t"/>
          <a:lstStyle/>
          <a:p>
            <a:pPr indent="0" marL="0">
              <a:buNone/>
            </a:pPr>
            <a:r>
              <a:rPr lang="en-US" sz="1400" dirty="0">
                <a:solidFill>
                  <a:schemeClr val="tx1"/>
                </a:solidFill>
              </a:rPr>
              <a:t>The extra CNOT gates add more mistakes than the code fixes.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548640" y="777240"/>
            <a:ext cx="11091672" cy="731520"/>
          </a:xfrm>
          <a:prstGeom prst="rect">
            <a:avLst/>
          </a:prstGeom>
          <a:noFill/>
          <a:ln/>
        </p:spPr>
        <p:txBody>
          <a:bodyPr wrap="square" lIns="0" tIns="0" rIns="0" bIns="0" rtlCol="0" anchor="ctr"/>
          <a:lstStyle/>
          <a:p>
            <a:pPr algn="l" indent="0" marL="0">
              <a:buNone/>
            </a:pPr>
            <a:r>
              <a:rPr lang="en-US" sz="3600" b="1" spc="-100" kern="0" dirty="0">
                <a:solidFill>
                  <a:schemeClr val="bg1"/>
                </a:solidFill>
              </a:rPr>
              <a:t>What Protection Costs</a:t>
            </a:r>
            <a:endParaRPr lang="en-US" sz="3600" dirty="0"/>
          </a:p>
        </p:txBody>
      </p:sp>
      <p:sp>
        <p:nvSpPr>
          <p:cNvPr id="3" name="Subtitle"/>
          <p:cNvSpPr txBox="1"/>
          <p:nvPr/>
        </p:nvSpPr>
        <p:spPr>
          <a:xfrm>
            <a:off x="548640" y="1536192"/>
            <a:ext cx="5486400" cy="365760"/>
          </a:xfrm>
          <a:prstGeom prst="rect">
            <a:avLst/>
          </a:prstGeom>
          <a:noFill/>
          <a:ln/>
        </p:spPr>
        <p:txBody>
          <a:bodyPr wrap="square" lIns="0" tIns="0" rIns="0" bIns="0" rtlCol="0" anchor="ctr"/>
          <a:lstStyle/>
          <a:p>
            <a:pPr indent="0" marL="0">
              <a:buNone/>
            </a:pPr>
            <a:r>
              <a:rPr lang="en-US" sz="1800" dirty="0">
                <a:solidFill>
                  <a:schemeClr val="accent2"/>
                </a:solidFill>
              </a:rPr>
              <a:t>Cost vs. benefit</a:t>
            </a:r>
            <a:endParaRPr lang="en-US" sz="1800" dirty="0"/>
          </a:p>
        </p:txBody>
      </p:sp>
      <p:pic>
        <p:nvPicPr>
          <p:cNvPr id="4" name="Figure pareto.png" descr="Cost benefit plot of six-state fidelity against two-qubit gate count for each strategy">    </p:cNvPr>
          <p:cNvPicPr>
            <a:picLocks noChangeAspect="1"/>
          </p:cNvPicPr>
          <p:nvPr/>
        </p:nvPicPr>
        <p:blipFill>
          <a:blip r:embed="rId1"/>
          <a:stretch>
            <a:fillRect/>
          </a:stretch>
        </p:blipFill>
        <p:spPr>
          <a:xfrm>
            <a:off x="548640" y="2103120"/>
            <a:ext cx="3794760" cy="2443986"/>
          </a:xfrm>
          <a:prstGeom prst="rect">
            <a:avLst/>
          </a:prstGeom>
        </p:spPr>
      </p:pic>
      <p:pic>
        <p:nvPicPr>
          <p:cNvPr id="5" name="Figure realistic.png" descr="Six-state fidelity against noise multiplier for realistic gate noise and T1/T2 relaxation">    </p:cNvPr>
          <p:cNvPicPr>
            <a:picLocks noChangeAspect="1"/>
          </p:cNvPicPr>
          <p:nvPr/>
        </p:nvPicPr>
        <p:blipFill>
          <a:blip r:embed="rId2"/>
          <a:stretch>
            <a:fillRect/>
          </a:stretch>
        </p:blipFill>
        <p:spPr>
          <a:xfrm>
            <a:off x="4526280" y="2103120"/>
            <a:ext cx="3794760" cy="2318066"/>
          </a:xfrm>
          <a:prstGeom prst="rect">
            <a:avLst/>
          </a:prstGeom>
        </p:spPr>
      </p:pic>
      <p:sp>
        <p:nvSpPr>
          <p:cNvPr id="6" name="Pareto caption"/>
          <p:cNvSpPr txBox="1"/>
          <p:nvPr/>
        </p:nvSpPr>
        <p:spPr>
          <a:xfrm>
            <a:off x="548640" y="4709160"/>
            <a:ext cx="3794760" cy="594360"/>
          </a:xfrm>
          <a:prstGeom prst="rect">
            <a:avLst/>
          </a:prstGeom>
          <a:noFill/>
          <a:ln/>
        </p:spPr>
        <p:txBody>
          <a:bodyPr wrap="square" lIns="0" tIns="0" rIns="0" bIns="0" rtlCol="0" anchor="t"/>
          <a:lstStyle/>
          <a:p>
            <a:pPr indent="0" marL="0">
              <a:buNone/>
            </a:pPr>
            <a:r>
              <a:rPr lang="en-US" sz="1200" dirty="0">
                <a:solidFill>
                  <a:schemeClr val="accent2"/>
                </a:solidFill>
              </a:rPr>
              <a:t>Extra gates needed vs. accuracy gained: about 7% better for 3.3x the gates.</a:t>
            </a:r>
            <a:endParaRPr lang="en-US" sz="1200" dirty="0"/>
          </a:p>
        </p:txBody>
      </p:sp>
      <p:sp>
        <p:nvSpPr>
          <p:cNvPr id="7" name="Noise caption"/>
          <p:cNvSpPr txBox="1"/>
          <p:nvPr/>
        </p:nvSpPr>
        <p:spPr>
          <a:xfrm>
            <a:off x="4526280" y="4709160"/>
            <a:ext cx="3794760" cy="594360"/>
          </a:xfrm>
          <a:prstGeom prst="rect">
            <a:avLst/>
          </a:prstGeom>
          <a:noFill/>
          <a:ln/>
        </p:spPr>
        <p:txBody>
          <a:bodyPr wrap="square" lIns="0" tIns="0" rIns="0" bIns="0" rtlCol="0" anchor="t"/>
          <a:lstStyle/>
          <a:p>
            <a:pPr indent="0" marL="0">
              <a:buNone/>
            </a:pPr>
            <a:r>
              <a:rPr lang="en-US" sz="1200" dirty="0">
                <a:solidFill>
                  <a:schemeClr val="accent2"/>
                </a:solidFill>
              </a:rPr>
              <a:t>Tested with different gate mistake levels and with qubits fading over time (T1/T2).</a:t>
            </a:r>
            <a:endParaRPr lang="en-US" sz="1200" dirty="0"/>
          </a:p>
        </p:txBody>
      </p:sp>
      <p:sp>
        <p:nvSpPr>
          <p:cNvPr id="8" name="T1T2 note"/>
          <p:cNvSpPr txBox="1"/>
          <p:nvPr/>
        </p:nvSpPr>
        <p:spPr>
          <a:xfrm>
            <a:off x="548640" y="5440680"/>
            <a:ext cx="7772400" cy="777240"/>
          </a:xfrm>
          <a:prstGeom prst="rect">
            <a:avLst/>
          </a:prstGeom>
          <a:noFill/>
          <a:ln/>
        </p:spPr>
        <p:txBody>
          <a:bodyPr wrap="square" lIns="0" tIns="0" rIns="0" bIns="0" rtlCol="0" anchor="t"/>
          <a:lstStyle/>
          <a:p>
            <a:pPr indent="0" marL="0">
              <a:buNone/>
            </a:pPr>
            <a:r>
              <a:rPr lang="en-US" sz="1600" b="1" dirty="0">
                <a:solidFill>
                  <a:schemeClr val="bg1"/>
                </a:solidFill>
              </a:rPr>
              <a:t xml:space="preserve">Fading (T1/T2): </a:t>
            </a:r>
            <a:r>
              <a:rPr lang="en-US" sz="1600" dirty="0">
                <a:solidFill>
                  <a:schemeClr val="bg1"/>
                </a:solidFill>
              </a:rPr>
              <a:t xml:space="preserve">With realistic fading over time, the benefit of protection disappears.</a:t>
            </a:r>
            <a:endParaRPr lang="en-US" sz="1600" dirty="0"/>
          </a:p>
        </p:txBody>
      </p:sp>
      <p:sp>
        <p:nvSpPr>
          <p:cNvPr id="9" name="Text 5"/>
          <p:cNvSpPr txBox="1"/>
          <p:nvPr/>
        </p:nvSpPr>
        <p:spPr>
          <a:xfrm>
            <a:off x="8686800" y="2103120"/>
            <a:ext cx="2953512" cy="320040"/>
          </a:xfrm>
          <a:prstGeom prst="rect">
            <a:avLst/>
          </a:prstGeom>
          <a:noFill/>
          <a:ln/>
        </p:spPr>
        <p:txBody>
          <a:bodyPr wrap="square" lIns="0" tIns="0" rIns="0" bIns="0" rtlCol="0" anchor="ctr"/>
          <a:lstStyle/>
          <a:p>
            <a:pPr indent="0" marL="0">
              <a:buNone/>
            </a:pPr>
            <a:r>
              <a:rPr lang="en-US" sz="1600" b="1" dirty="0">
                <a:solidFill>
                  <a:schemeClr val="bg1"/>
                </a:solidFill>
              </a:rPr>
              <a:t>Extra Cost</a:t>
            </a:r>
            <a:endParaRPr lang="en-US" sz="1600" dirty="0"/>
          </a:p>
        </p:txBody>
      </p:sp>
      <p:sp>
        <p:nvSpPr>
          <p:cNvPr id="10" name="Stat card 1"/>
          <p:cNvSpPr/>
          <p:nvPr/>
        </p:nvSpPr>
        <p:spPr>
          <a:xfrm>
            <a:off x="8686800" y="2560320"/>
            <a:ext cx="2953512" cy="1051560"/>
          </a:xfrm>
          <a:prstGeom prst="roundRect">
            <a:avLst>
              <a:gd name="adj" fmla="val 30435"/>
            </a:avLst>
          </a:prstGeom>
          <a:solidFill>
            <a:schemeClr val="bg1">
              <a:alpha val="6000"/>
            </a:schemeClr>
          </a:solidFill>
          <a:ln w="12700">
            <a:solidFill>
              <a:schemeClr val="bg1">
                <a:alpha val="45000"/>
              </a:schemeClr>
            </a:solidFill>
            <a:prstDash val="solid"/>
          </a:ln>
        </p:spPr>
      </p:sp>
      <p:sp>
        <p:nvSpPr>
          <p:cNvPr id="11" name="Stat value 1"/>
          <p:cNvSpPr txBox="1"/>
          <p:nvPr/>
        </p:nvSpPr>
        <p:spPr>
          <a:xfrm>
            <a:off x="8869680" y="2560320"/>
            <a:ext cx="1371600" cy="1051560"/>
          </a:xfrm>
          <a:prstGeom prst="rect">
            <a:avLst/>
          </a:prstGeom>
          <a:noFill/>
          <a:ln/>
        </p:spPr>
        <p:txBody>
          <a:bodyPr wrap="square" lIns="0" tIns="0" rIns="0" bIns="0" rtlCol="0" anchor="ctr"/>
          <a:lstStyle/>
          <a:p>
            <a:pPr indent="0" marL="0">
              <a:buNone/>
            </a:pPr>
            <a:r>
              <a:rPr lang="en-US" sz="3000" b="1" dirty="0">
                <a:solidFill>
                  <a:schemeClr val="accent2"/>
                </a:solidFill>
              </a:rPr>
              <a:t>3x</a:t>
            </a:r>
            <a:endParaRPr lang="en-US" sz="3000" dirty="0"/>
          </a:p>
        </p:txBody>
      </p:sp>
      <p:sp>
        <p:nvSpPr>
          <p:cNvPr id="12" name="Stat label 1"/>
          <p:cNvSpPr txBox="1"/>
          <p:nvPr/>
        </p:nvSpPr>
        <p:spPr>
          <a:xfrm>
            <a:off x="10287000" y="2560320"/>
            <a:ext cx="1280160" cy="1051560"/>
          </a:xfrm>
          <a:prstGeom prst="rect">
            <a:avLst/>
          </a:prstGeom>
          <a:noFill/>
          <a:ln/>
        </p:spPr>
        <p:txBody>
          <a:bodyPr wrap="square" lIns="0" tIns="0" rIns="0" bIns="0" rtlCol="0" anchor="ctr"/>
          <a:lstStyle/>
          <a:p>
            <a:pPr indent="0" marL="0">
              <a:buNone/>
            </a:pPr>
            <a:r>
              <a:rPr lang="en-US" sz="1400" dirty="0">
                <a:solidFill>
                  <a:schemeClr val="bg1"/>
                </a:solidFill>
              </a:rPr>
              <a:t>qubits needed</a:t>
            </a:r>
            <a:endParaRPr lang="en-US" sz="1400" dirty="0"/>
          </a:p>
        </p:txBody>
      </p:sp>
      <p:sp>
        <p:nvSpPr>
          <p:cNvPr id="13" name="Stat card 2"/>
          <p:cNvSpPr/>
          <p:nvPr/>
        </p:nvSpPr>
        <p:spPr>
          <a:xfrm>
            <a:off x="8686800" y="3794760"/>
            <a:ext cx="2953512" cy="1051560"/>
          </a:xfrm>
          <a:prstGeom prst="roundRect">
            <a:avLst>
              <a:gd name="adj" fmla="val 30435"/>
            </a:avLst>
          </a:prstGeom>
          <a:solidFill>
            <a:schemeClr val="bg1">
              <a:alpha val="6000"/>
            </a:schemeClr>
          </a:solidFill>
          <a:ln w="12700">
            <a:solidFill>
              <a:schemeClr val="bg1">
                <a:alpha val="45000"/>
              </a:schemeClr>
            </a:solidFill>
            <a:prstDash val="solid"/>
          </a:ln>
        </p:spPr>
      </p:sp>
      <p:sp>
        <p:nvSpPr>
          <p:cNvPr id="14" name="Stat value 2"/>
          <p:cNvSpPr txBox="1"/>
          <p:nvPr/>
        </p:nvSpPr>
        <p:spPr>
          <a:xfrm>
            <a:off x="8869680" y="3794760"/>
            <a:ext cx="1371600" cy="1051560"/>
          </a:xfrm>
          <a:prstGeom prst="rect">
            <a:avLst/>
          </a:prstGeom>
          <a:noFill/>
          <a:ln/>
        </p:spPr>
        <p:txBody>
          <a:bodyPr wrap="square" lIns="0" tIns="0" rIns="0" bIns="0" rtlCol="0" anchor="ctr"/>
          <a:lstStyle/>
          <a:p>
            <a:pPr indent="0" marL="0">
              <a:buNone/>
            </a:pPr>
            <a:r>
              <a:rPr lang="en-US" sz="3000" b="1" dirty="0">
                <a:solidFill>
                  <a:schemeClr val="accent2"/>
                </a:solidFill>
              </a:rPr>
              <a:t>~2.7x</a:t>
            </a:r>
            <a:endParaRPr lang="en-US" sz="3000" dirty="0"/>
          </a:p>
        </p:txBody>
      </p:sp>
      <p:sp>
        <p:nvSpPr>
          <p:cNvPr id="15" name="Stat label 2"/>
          <p:cNvSpPr txBox="1"/>
          <p:nvPr/>
        </p:nvSpPr>
        <p:spPr>
          <a:xfrm>
            <a:off x="10287000" y="3794760"/>
            <a:ext cx="1280160" cy="1051560"/>
          </a:xfrm>
          <a:prstGeom prst="rect">
            <a:avLst/>
          </a:prstGeom>
          <a:noFill/>
          <a:ln/>
        </p:spPr>
        <p:txBody>
          <a:bodyPr wrap="square" lIns="0" tIns="0" rIns="0" bIns="0" rtlCol="0" anchor="ctr"/>
          <a:lstStyle/>
          <a:p>
            <a:pPr indent="0" marL="0">
              <a:buNone/>
            </a:pPr>
            <a:r>
              <a:rPr lang="en-US" sz="1400" dirty="0">
                <a:solidFill>
                  <a:schemeClr val="bg1"/>
                </a:solidFill>
              </a:rPr>
              <a:t>circuit length</a:t>
            </a:r>
            <a:endParaRPr lang="en-US" sz="1400" dirty="0"/>
          </a:p>
        </p:txBody>
      </p:sp>
      <p:sp>
        <p:nvSpPr>
          <p:cNvPr id="16" name="Stat card 3"/>
          <p:cNvSpPr/>
          <p:nvPr/>
        </p:nvSpPr>
        <p:spPr>
          <a:xfrm>
            <a:off x="8686800" y="5029200"/>
            <a:ext cx="2953512" cy="1051560"/>
          </a:xfrm>
          <a:prstGeom prst="roundRect">
            <a:avLst>
              <a:gd name="adj" fmla="val 30435"/>
            </a:avLst>
          </a:prstGeom>
          <a:solidFill>
            <a:schemeClr val="bg1">
              <a:alpha val="6000"/>
            </a:schemeClr>
          </a:solidFill>
          <a:ln w="12700">
            <a:solidFill>
              <a:schemeClr val="bg1">
                <a:alpha val="45000"/>
              </a:schemeClr>
            </a:solidFill>
            <a:prstDash val="solid"/>
          </a:ln>
        </p:spPr>
      </p:sp>
      <p:sp>
        <p:nvSpPr>
          <p:cNvPr id="17" name="Stat value 3"/>
          <p:cNvSpPr txBox="1"/>
          <p:nvPr/>
        </p:nvSpPr>
        <p:spPr>
          <a:xfrm>
            <a:off x="8869680" y="5029200"/>
            <a:ext cx="1371600" cy="1051560"/>
          </a:xfrm>
          <a:prstGeom prst="rect">
            <a:avLst/>
          </a:prstGeom>
          <a:noFill/>
          <a:ln/>
        </p:spPr>
        <p:txBody>
          <a:bodyPr wrap="square" lIns="0" tIns="0" rIns="0" bIns="0" rtlCol="0" anchor="ctr"/>
          <a:lstStyle/>
          <a:p>
            <a:pPr indent="0" marL="0">
              <a:buNone/>
            </a:pPr>
            <a:r>
              <a:rPr lang="en-US" sz="3000" b="1" dirty="0">
                <a:solidFill>
                  <a:schemeClr val="accent2"/>
                </a:solidFill>
              </a:rPr>
              <a:t>~3.3x</a:t>
            </a:r>
            <a:endParaRPr lang="en-US" sz="3000" dirty="0"/>
          </a:p>
        </p:txBody>
      </p:sp>
      <p:sp>
        <p:nvSpPr>
          <p:cNvPr id="18" name="Stat label 3"/>
          <p:cNvSpPr txBox="1"/>
          <p:nvPr/>
        </p:nvSpPr>
        <p:spPr>
          <a:xfrm>
            <a:off x="10287000" y="5029200"/>
            <a:ext cx="1280160" cy="1051560"/>
          </a:xfrm>
          <a:prstGeom prst="rect">
            <a:avLst/>
          </a:prstGeom>
          <a:noFill/>
          <a:ln/>
        </p:spPr>
        <p:txBody>
          <a:bodyPr wrap="square" lIns="0" tIns="0" rIns="0" bIns="0" rtlCol="0" anchor="ctr"/>
          <a:lstStyle/>
          <a:p>
            <a:pPr indent="0" marL="0">
              <a:buNone/>
            </a:pPr>
            <a:r>
              <a:rPr lang="en-US" sz="1400" dirty="0">
                <a:solidFill>
                  <a:schemeClr val="bg1"/>
                </a:solidFill>
              </a:rPr>
              <a:t>number of gates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548640" y="777240"/>
            <a:ext cx="11091672" cy="731520"/>
          </a:xfrm>
          <a:prstGeom prst="rect">
            <a:avLst/>
          </a:prstGeom>
          <a:noFill/>
          <a:ln/>
        </p:spPr>
        <p:txBody>
          <a:bodyPr wrap="square" lIns="0" tIns="0" rIns="0" bIns="0" rtlCol="0" anchor="ctr"/>
          <a:lstStyle/>
          <a:p>
            <a:pPr algn="l" indent="0" marL="0">
              <a:buNone/>
            </a:pPr>
            <a:r>
              <a:rPr lang="en-US" sz="3600" b="1" spc="-100" kern="0" dirty="0">
                <a:solidFill>
                  <a:schemeClr val="tx1"/>
                </a:solidFill>
              </a:rPr>
              <a:t>What Is New in Our Work</a:t>
            </a:r>
            <a:endParaRPr lang="en-US" sz="3600" dirty="0"/>
          </a:p>
        </p:txBody>
      </p:sp>
      <p:sp>
        <p:nvSpPr>
          <p:cNvPr id="3" name="Innovation card"/>
          <p:cNvSpPr/>
          <p:nvPr/>
        </p:nvSpPr>
        <p:spPr>
          <a:xfrm>
            <a:off x="548640" y="1783080"/>
            <a:ext cx="11091672" cy="4389120"/>
          </a:xfrm>
          <a:prstGeom prst="roundRect">
            <a:avLst>
              <a:gd name="adj" fmla="val 7292"/>
            </a:avLst>
          </a:prstGeom>
          <a:solidFill>
            <a:schemeClr val="bg1">
              <a:alpha val="38000"/>
            </a:schemeClr>
          </a:solidFill>
          <a:ln w="12700">
            <a:solidFill>
              <a:schemeClr val="tx1">
                <a:alpha val="65000"/>
              </a:schemeClr>
            </a:solidFill>
            <a:prstDash val="solid"/>
          </a:ln>
        </p:spPr>
      </p:sp>
      <p:sp>
        <p:nvSpPr>
          <p:cNvPr id="4" name="Number 01"/>
          <p:cNvSpPr txBox="1"/>
          <p:nvPr/>
        </p:nvSpPr>
        <p:spPr>
          <a:xfrm>
            <a:off x="868680" y="2011680"/>
            <a:ext cx="2224278" cy="822960"/>
          </a:xfrm>
          <a:prstGeom prst="rect">
            <a:avLst/>
          </a:prstGeom>
          <a:noFill/>
          <a:ln/>
        </p:spPr>
        <p:txBody>
          <a:bodyPr wrap="square" lIns="0" tIns="0" rIns="0" bIns="0" rtlCol="0" anchor="ctr"/>
          <a:lstStyle/>
          <a:p>
            <a:pPr indent="0" marL="0">
              <a:buNone/>
            </a:pPr>
            <a:r>
              <a:rPr lang="en-US" sz="4400" b="1" dirty="0">
                <a:solidFill>
                  <a:schemeClr val="accent3"/>
                </a:solidFill>
              </a:rPr>
              <a:t>01</a:t>
            </a:r>
            <a:endParaRPr lang="en-US" sz="4400" dirty="0"/>
          </a:p>
        </p:txBody>
      </p:sp>
      <p:sp>
        <p:nvSpPr>
          <p:cNvPr id="5" name="Innovation heading 01"/>
          <p:cNvSpPr txBox="1"/>
          <p:nvPr/>
        </p:nvSpPr>
        <p:spPr>
          <a:xfrm>
            <a:off x="868680" y="2926080"/>
            <a:ext cx="2224278" cy="685800"/>
          </a:xfrm>
          <a:prstGeom prst="rect">
            <a:avLst/>
          </a:prstGeom>
          <a:noFill/>
          <a:ln/>
        </p:spPr>
        <p:txBody>
          <a:bodyPr wrap="square" lIns="0" tIns="0" rIns="0" bIns="0" rtlCol="0" anchor="t"/>
          <a:lstStyle/>
          <a:p>
            <a:pPr indent="0" marL="0">
              <a:buNone/>
            </a:pPr>
            <a:r>
              <a:rPr lang="en-US" sz="1800" b="1" dirty="0">
                <a:solidFill>
                  <a:schemeClr val="tx1"/>
                </a:solidFill>
              </a:rPr>
              <a:t>Help-or-Hurt Map</a:t>
            </a:r>
            <a:endParaRPr lang="en-US" sz="1800" dirty="0"/>
          </a:p>
        </p:txBody>
      </p:sp>
      <p:sp>
        <p:nvSpPr>
          <p:cNvPr id="6" name="Innovation text 01"/>
          <p:cNvSpPr txBox="1"/>
          <p:nvPr/>
        </p:nvSpPr>
        <p:spPr>
          <a:xfrm>
            <a:off x="868680" y="3657600"/>
            <a:ext cx="2178558" cy="2286000"/>
          </a:xfrm>
          <a:prstGeom prst="rect">
            <a:avLst/>
          </a:prstGeom>
          <a:noFill/>
          <a:ln/>
        </p:spPr>
        <p:txBody>
          <a:bodyPr wrap="square" lIns="0" tIns="0" rIns="0" bIns="0" rtlCol="0" anchor="t"/>
          <a:lstStyle/>
          <a:p>
            <a:pPr indent="0" marL="0">
              <a:buNone/>
            </a:pPr>
            <a:r>
              <a:rPr lang="en-US" sz="1500" dirty="0">
                <a:solidFill>
                  <a:schemeClr val="tx1"/>
                </a:solidFill>
              </a:rPr>
              <a:t>A colour map showing exactly when error correction helps and when its extra work makes things worse.</a:t>
            </a:r>
            <a:endParaRPr lang="en-US" sz="1500" dirty="0"/>
          </a:p>
        </p:txBody>
      </p:sp>
      <p:sp>
        <p:nvSpPr>
          <p:cNvPr id="7" name="Column divider"/>
          <p:cNvSpPr/>
          <p:nvPr/>
        </p:nvSpPr>
        <p:spPr>
          <a:xfrm>
            <a:off x="3321558" y="2103120"/>
            <a:ext cx="0" cy="3749040"/>
          </a:xfrm>
          <a:prstGeom prst="line">
            <a:avLst/>
          </a:prstGeom>
          <a:noFill/>
          <a:ln w="12700">
            <a:solidFill>
              <a:schemeClr val="tx1">
                <a:alpha val="40000"/>
              </a:schemeClr>
            </a:solidFill>
            <a:prstDash val="solid"/>
          </a:ln>
        </p:spPr>
      </p:sp>
      <p:sp>
        <p:nvSpPr>
          <p:cNvPr id="8" name="Number 02"/>
          <p:cNvSpPr txBox="1"/>
          <p:nvPr/>
        </p:nvSpPr>
        <p:spPr>
          <a:xfrm>
            <a:off x="3641598" y="2011680"/>
            <a:ext cx="2224278" cy="822960"/>
          </a:xfrm>
          <a:prstGeom prst="rect">
            <a:avLst/>
          </a:prstGeom>
          <a:noFill/>
          <a:ln/>
        </p:spPr>
        <p:txBody>
          <a:bodyPr wrap="square" lIns="0" tIns="0" rIns="0" bIns="0" rtlCol="0" anchor="ctr"/>
          <a:lstStyle/>
          <a:p>
            <a:pPr indent="0" marL="0">
              <a:buNone/>
            </a:pPr>
            <a:r>
              <a:rPr lang="en-US" sz="4400" b="1" dirty="0">
                <a:solidFill>
                  <a:schemeClr val="accent3"/>
                </a:solidFill>
              </a:rPr>
              <a:t>02</a:t>
            </a:r>
            <a:endParaRPr lang="en-US" sz="4400" dirty="0"/>
          </a:p>
        </p:txBody>
      </p:sp>
      <p:sp>
        <p:nvSpPr>
          <p:cNvPr id="9" name="Innovation heading 02"/>
          <p:cNvSpPr txBox="1"/>
          <p:nvPr/>
        </p:nvSpPr>
        <p:spPr>
          <a:xfrm>
            <a:off x="3641598" y="2926080"/>
            <a:ext cx="2224278" cy="685800"/>
          </a:xfrm>
          <a:prstGeom prst="rect">
            <a:avLst/>
          </a:prstGeom>
          <a:noFill/>
          <a:ln/>
        </p:spPr>
        <p:txBody>
          <a:bodyPr wrap="square" lIns="0" tIns="0" rIns="0" bIns="0" rtlCol="0" anchor="t"/>
          <a:lstStyle/>
          <a:p>
            <a:pPr indent="0" marL="0">
              <a:buNone/>
            </a:pPr>
            <a:r>
              <a:rPr lang="en-US" sz="1800" b="1" dirty="0">
                <a:solidFill>
                  <a:schemeClr val="tx1"/>
                </a:solidFill>
              </a:rPr>
              <a:t>Smart Choice</a:t>
            </a:r>
            <a:endParaRPr lang="en-US" sz="1800" dirty="0"/>
          </a:p>
        </p:txBody>
      </p:sp>
      <p:sp>
        <p:nvSpPr>
          <p:cNvPr id="10" name="Innovation text 02"/>
          <p:cNvSpPr txBox="1"/>
          <p:nvPr/>
        </p:nvSpPr>
        <p:spPr>
          <a:xfrm>
            <a:off x="3641598" y="3657600"/>
            <a:ext cx="2178558" cy="2286000"/>
          </a:xfrm>
          <a:prstGeom prst="rect">
            <a:avLst/>
          </a:prstGeom>
          <a:noFill/>
          <a:ln/>
        </p:spPr>
        <p:txBody>
          <a:bodyPr wrap="square" lIns="0" tIns="0" rIns="0" bIns="0" rtlCol="0" anchor="t"/>
          <a:lstStyle/>
          <a:p>
            <a:pPr indent="0" marL="0">
              <a:buNone/>
            </a:pPr>
            <a:r>
              <a:rPr lang="en-US" sz="1500" dirty="0">
                <a:solidFill>
                  <a:schemeClr val="tx1"/>
                </a:solidFill>
              </a:rPr>
              <a:t>A program that picks the best protection for each case, instead of always using one fixed method.</a:t>
            </a:r>
            <a:endParaRPr lang="en-US" sz="1500" dirty="0"/>
          </a:p>
        </p:txBody>
      </p:sp>
      <p:sp>
        <p:nvSpPr>
          <p:cNvPr id="11" name="Column divider"/>
          <p:cNvSpPr/>
          <p:nvPr/>
        </p:nvSpPr>
        <p:spPr>
          <a:xfrm>
            <a:off x="6094476" y="2103120"/>
            <a:ext cx="0" cy="3749040"/>
          </a:xfrm>
          <a:prstGeom prst="line">
            <a:avLst/>
          </a:prstGeom>
          <a:noFill/>
          <a:ln w="12700">
            <a:solidFill>
              <a:schemeClr val="tx1">
                <a:alpha val="40000"/>
              </a:schemeClr>
            </a:solidFill>
            <a:prstDash val="solid"/>
          </a:ln>
        </p:spPr>
      </p:sp>
      <p:sp>
        <p:nvSpPr>
          <p:cNvPr id="12" name="Number 03"/>
          <p:cNvSpPr txBox="1"/>
          <p:nvPr/>
        </p:nvSpPr>
        <p:spPr>
          <a:xfrm>
            <a:off x="6414516" y="2011680"/>
            <a:ext cx="2224278" cy="822960"/>
          </a:xfrm>
          <a:prstGeom prst="rect">
            <a:avLst/>
          </a:prstGeom>
          <a:noFill/>
          <a:ln/>
        </p:spPr>
        <p:txBody>
          <a:bodyPr wrap="square" lIns="0" tIns="0" rIns="0" bIns="0" rtlCol="0" anchor="ctr"/>
          <a:lstStyle/>
          <a:p>
            <a:pPr indent="0" marL="0">
              <a:buNone/>
            </a:pPr>
            <a:r>
              <a:rPr lang="en-US" sz="4400" b="1" dirty="0">
                <a:solidFill>
                  <a:schemeClr val="accent3"/>
                </a:solidFill>
              </a:rPr>
              <a:t>03</a:t>
            </a:r>
            <a:endParaRPr lang="en-US" sz="4400" dirty="0"/>
          </a:p>
        </p:txBody>
      </p:sp>
      <p:sp>
        <p:nvSpPr>
          <p:cNvPr id="13" name="Innovation heading 03"/>
          <p:cNvSpPr txBox="1"/>
          <p:nvPr/>
        </p:nvSpPr>
        <p:spPr>
          <a:xfrm>
            <a:off x="6414516" y="2926080"/>
            <a:ext cx="2224278" cy="685800"/>
          </a:xfrm>
          <a:prstGeom prst="rect">
            <a:avLst/>
          </a:prstGeom>
          <a:noFill/>
          <a:ln/>
        </p:spPr>
        <p:txBody>
          <a:bodyPr wrap="square" lIns="0" tIns="0" rIns="0" bIns="0" rtlCol="0" anchor="t"/>
          <a:lstStyle/>
          <a:p>
            <a:pPr indent="0" marL="0">
              <a:buNone/>
            </a:pPr>
            <a:r>
              <a:rPr lang="en-US" sz="1800" b="1" dirty="0">
                <a:solidFill>
                  <a:schemeClr val="tx1"/>
                </a:solidFill>
              </a:rPr>
              <a:t>Maths + AI</a:t>
            </a:r>
            <a:endParaRPr lang="en-US" sz="1800" dirty="0"/>
          </a:p>
        </p:txBody>
      </p:sp>
      <p:sp>
        <p:nvSpPr>
          <p:cNvPr id="14" name="Innovation text 03"/>
          <p:cNvSpPr txBox="1"/>
          <p:nvPr/>
        </p:nvSpPr>
        <p:spPr>
          <a:xfrm>
            <a:off x="6414516" y="3657600"/>
            <a:ext cx="2178558" cy="2286000"/>
          </a:xfrm>
          <a:prstGeom prst="rect">
            <a:avLst/>
          </a:prstGeom>
          <a:noFill/>
          <a:ln/>
        </p:spPr>
        <p:txBody>
          <a:bodyPr wrap="square" lIns="0" tIns="0" rIns="0" bIns="0" rtlCol="0" anchor="t"/>
          <a:lstStyle/>
          <a:p>
            <a:pPr indent="0" marL="0">
              <a:buNone/>
            </a:pPr>
            <a:r>
              <a:rPr lang="en-US" sz="1500" dirty="0">
                <a:solidFill>
                  <a:schemeClr val="tx1"/>
                </a:solidFill>
              </a:rPr>
              <a:t>We give the AI known physics formulas as hints. We score it by "regret": how much worse its pick is than the best pick.</a:t>
            </a:r>
            <a:endParaRPr lang="en-US" sz="1500" dirty="0"/>
          </a:p>
        </p:txBody>
      </p:sp>
      <p:sp>
        <p:nvSpPr>
          <p:cNvPr id="15" name="Column divider"/>
          <p:cNvSpPr/>
          <p:nvPr/>
        </p:nvSpPr>
        <p:spPr>
          <a:xfrm>
            <a:off x="8867394" y="2103120"/>
            <a:ext cx="0" cy="3749040"/>
          </a:xfrm>
          <a:prstGeom prst="line">
            <a:avLst/>
          </a:prstGeom>
          <a:noFill/>
          <a:ln w="12700">
            <a:solidFill>
              <a:schemeClr val="tx1">
                <a:alpha val="40000"/>
              </a:schemeClr>
            </a:solidFill>
            <a:prstDash val="solid"/>
          </a:ln>
        </p:spPr>
      </p:sp>
      <p:sp>
        <p:nvSpPr>
          <p:cNvPr id="16" name="Number 04"/>
          <p:cNvSpPr txBox="1"/>
          <p:nvPr/>
        </p:nvSpPr>
        <p:spPr>
          <a:xfrm>
            <a:off x="9187434" y="2011680"/>
            <a:ext cx="2224278" cy="822960"/>
          </a:xfrm>
          <a:prstGeom prst="rect">
            <a:avLst/>
          </a:prstGeom>
          <a:noFill/>
          <a:ln/>
        </p:spPr>
        <p:txBody>
          <a:bodyPr wrap="square" lIns="0" tIns="0" rIns="0" bIns="0" rtlCol="0" anchor="ctr"/>
          <a:lstStyle/>
          <a:p>
            <a:pPr indent="0" marL="0">
              <a:buNone/>
            </a:pPr>
            <a:r>
              <a:rPr lang="en-US" sz="4400" b="1" dirty="0">
                <a:solidFill>
                  <a:schemeClr val="accent3"/>
                </a:solidFill>
              </a:rPr>
              <a:t>04</a:t>
            </a:r>
            <a:endParaRPr lang="en-US" sz="4400" dirty="0"/>
          </a:p>
        </p:txBody>
      </p:sp>
      <p:sp>
        <p:nvSpPr>
          <p:cNvPr id="17" name="Innovation heading 04"/>
          <p:cNvSpPr txBox="1"/>
          <p:nvPr/>
        </p:nvSpPr>
        <p:spPr>
          <a:xfrm>
            <a:off x="9187434" y="2926080"/>
            <a:ext cx="2224278" cy="685800"/>
          </a:xfrm>
          <a:prstGeom prst="rect">
            <a:avLst/>
          </a:prstGeom>
          <a:noFill/>
          <a:ln/>
        </p:spPr>
        <p:txBody>
          <a:bodyPr wrap="square" lIns="0" tIns="0" rIns="0" bIns="0" rtlCol="0" anchor="t"/>
          <a:lstStyle/>
          <a:p>
            <a:pPr indent="0" marL="0">
              <a:buNone/>
            </a:pPr>
            <a:r>
              <a:rPr lang="en-US" sz="1800" b="1" dirty="0">
                <a:solidFill>
                  <a:schemeClr val="tx1"/>
                </a:solidFill>
              </a:rPr>
              <a:t>Real Data</a:t>
            </a:r>
            <a:endParaRPr lang="en-US" sz="1800" dirty="0"/>
          </a:p>
        </p:txBody>
      </p:sp>
      <p:sp>
        <p:nvSpPr>
          <p:cNvPr id="18" name="Innovation text 04"/>
          <p:cNvSpPr txBox="1"/>
          <p:nvPr/>
        </p:nvSpPr>
        <p:spPr>
          <a:xfrm>
            <a:off x="9187434" y="3657600"/>
            <a:ext cx="2178558" cy="2286000"/>
          </a:xfrm>
          <a:prstGeom prst="rect">
            <a:avLst/>
          </a:prstGeom>
          <a:noFill/>
          <a:ln/>
        </p:spPr>
        <p:txBody>
          <a:bodyPr wrap="square" lIns="0" tIns="0" rIns="0" bIns="0" rtlCol="0" anchor="t"/>
          <a:lstStyle/>
          <a:p>
            <a:pPr indent="0" marL="0">
              <a:buNone/>
            </a:pPr>
            <a:r>
              <a:rPr lang="en-US" sz="1500" dirty="0">
                <a:solidFill>
                  <a:schemeClr val="tx1"/>
                </a:solidFill>
              </a:rPr>
              <a:t>Kaggle data sets the noise in our tests. Results use six different starting states, with error bars.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548640" y="777240"/>
            <a:ext cx="11091672" cy="731520"/>
          </a:xfrm>
          <a:prstGeom prst="rect">
            <a:avLst/>
          </a:prstGeom>
          <a:noFill/>
          <a:ln/>
        </p:spPr>
        <p:txBody>
          <a:bodyPr wrap="square" lIns="0" tIns="0" rIns="0" bIns="0" rtlCol="0" anchor="ctr"/>
          <a:lstStyle/>
          <a:p>
            <a:pPr algn="l" indent="0" marL="0">
              <a:buNone/>
            </a:pPr>
            <a:r>
              <a:rPr lang="en-US" sz="3600" b="1" spc="-100" kern="0" dirty="0">
                <a:solidFill>
                  <a:schemeClr val="tx1"/>
                </a:solidFill>
              </a:rPr>
              <a:t>The Smart Program That Picks the Fix</a:t>
            </a:r>
            <a:endParaRPr lang="en-US" sz="3600" dirty="0"/>
          </a:p>
        </p:txBody>
      </p:sp>
      <p:sp>
        <p:nvSpPr>
          <p:cNvPr id="3" name="Controller card 1"/>
          <p:cNvSpPr/>
          <p:nvPr/>
        </p:nvSpPr>
        <p:spPr>
          <a:xfrm>
            <a:off x="548640" y="1783080"/>
            <a:ext cx="5394960" cy="2103120"/>
          </a:xfrm>
          <a:prstGeom prst="roundRect">
            <a:avLst>
              <a:gd name="adj" fmla="val 15217"/>
            </a:avLst>
          </a:prstGeom>
          <a:solidFill>
            <a:schemeClr val="bg1">
              <a:alpha val="38000"/>
            </a:schemeClr>
          </a:solidFill>
          <a:ln w="12700">
            <a:solidFill>
              <a:schemeClr val="tx1">
                <a:alpha val="65000"/>
              </a:schemeClr>
            </a:solidFill>
            <a:prstDash val="solid"/>
          </a:ln>
        </p:spPr>
      </p:sp>
      <p:pic>
        <p:nvPicPr>
          <p:cNvPr id="4" name="Image 0" descr="Cpu icon">    </p:cNvPr>
          <p:cNvPicPr>
            <a:picLocks noChangeAspect="1"/>
          </p:cNvPicPr>
          <p:nvPr/>
        </p:nvPicPr>
        <p:blipFill>
          <a:blip r:embed="rId1"/>
          <a:stretch>
            <a:fillRect/>
          </a:stretch>
        </p:blipFill>
        <p:spPr>
          <a:xfrm>
            <a:off x="777240" y="1984248"/>
            <a:ext cx="411480" cy="411480"/>
          </a:xfrm>
          <a:prstGeom prst="rect">
            <a:avLst/>
          </a:prstGeom>
        </p:spPr>
      </p:pic>
      <p:sp>
        <p:nvSpPr>
          <p:cNvPr id="5" name="Text 2"/>
          <p:cNvSpPr txBox="1"/>
          <p:nvPr/>
        </p:nvSpPr>
        <p:spPr>
          <a:xfrm>
            <a:off x="1371600" y="1965960"/>
            <a:ext cx="4206240" cy="457200"/>
          </a:xfrm>
          <a:prstGeom prst="rect">
            <a:avLst/>
          </a:prstGeom>
          <a:noFill/>
          <a:ln/>
        </p:spPr>
        <p:txBody>
          <a:bodyPr wrap="square" lIns="0" tIns="0" rIns="0" bIns="0" rtlCol="0" anchor="ctr"/>
          <a:lstStyle/>
          <a:p>
            <a:pPr indent="0" marL="0">
              <a:buNone/>
            </a:pPr>
            <a:r>
              <a:rPr lang="en-US" sz="1800" b="1" dirty="0">
                <a:solidFill>
                  <a:schemeClr val="tx1"/>
                </a:solidFill>
              </a:rPr>
              <a:t>How It Learns</a:t>
            </a:r>
            <a:endParaRPr lang="en-US" sz="1800" dirty="0"/>
          </a:p>
        </p:txBody>
      </p:sp>
      <p:sp>
        <p:nvSpPr>
          <p:cNvPr id="6" name="Controller text 1"/>
          <p:cNvSpPr txBox="1"/>
          <p:nvPr/>
        </p:nvSpPr>
        <p:spPr>
          <a:xfrm>
            <a:off x="822960" y="2606040"/>
            <a:ext cx="4846320" cy="1143000"/>
          </a:xfrm>
          <a:prstGeom prst="rect">
            <a:avLst/>
          </a:prstGeom>
          <a:noFill/>
          <a:ln/>
        </p:spPr>
        <p:txBody>
          <a:bodyPr wrap="square" lIns="0" tIns="0" rIns="0" bIns="0" rtlCol="0" anchor="t"/>
          <a:lstStyle/>
          <a:p>
            <a:pPr indent="0" marL="0">
              <a:buNone/>
            </a:pPr>
            <a:r>
              <a:rPr lang="en-US" sz="1600" dirty="0">
                <a:solidFill>
                  <a:schemeClr val="tx1"/>
                </a:solidFill>
              </a:rPr>
              <a:t>It learned from thousands of simulated noise situations (using a common ML method called Gradient Boosting).</a:t>
            </a:r>
            <a:endParaRPr lang="en-US" sz="1600" dirty="0"/>
          </a:p>
        </p:txBody>
      </p:sp>
      <p:sp>
        <p:nvSpPr>
          <p:cNvPr id="7" name="Controller card 2"/>
          <p:cNvSpPr/>
          <p:nvPr/>
        </p:nvSpPr>
        <p:spPr>
          <a:xfrm>
            <a:off x="6245352" y="1783080"/>
            <a:ext cx="5394960" cy="2103120"/>
          </a:xfrm>
          <a:prstGeom prst="roundRect">
            <a:avLst>
              <a:gd name="adj" fmla="val 15217"/>
            </a:avLst>
          </a:prstGeom>
          <a:solidFill>
            <a:schemeClr val="bg1">
              <a:alpha val="38000"/>
            </a:schemeClr>
          </a:solidFill>
          <a:ln w="12700">
            <a:solidFill>
              <a:schemeClr val="tx1">
                <a:alpha val="65000"/>
              </a:schemeClr>
            </a:solidFill>
            <a:prstDash val="solid"/>
          </a:ln>
        </p:spPr>
      </p:sp>
      <p:pic>
        <p:nvPicPr>
          <p:cNvPr id="8" name="Image 1" descr="Activity icon">    </p:cNvPr>
          <p:cNvPicPr>
            <a:picLocks noChangeAspect="1"/>
          </p:cNvPicPr>
          <p:nvPr/>
        </p:nvPicPr>
        <p:blipFill>
          <a:blip r:embed="rId2"/>
          <a:stretch>
            <a:fillRect/>
          </a:stretch>
        </p:blipFill>
        <p:spPr>
          <a:xfrm>
            <a:off x="6473952" y="1984248"/>
            <a:ext cx="411480" cy="411480"/>
          </a:xfrm>
          <a:prstGeom prst="rect">
            <a:avLst/>
          </a:prstGeom>
        </p:spPr>
      </p:pic>
      <p:sp>
        <p:nvSpPr>
          <p:cNvPr id="9" name="Text 5"/>
          <p:cNvSpPr txBox="1"/>
          <p:nvPr/>
        </p:nvSpPr>
        <p:spPr>
          <a:xfrm>
            <a:off x="7068312" y="1965960"/>
            <a:ext cx="4206240" cy="457200"/>
          </a:xfrm>
          <a:prstGeom prst="rect">
            <a:avLst/>
          </a:prstGeom>
          <a:noFill/>
          <a:ln/>
        </p:spPr>
        <p:txBody>
          <a:bodyPr wrap="square" lIns="0" tIns="0" rIns="0" bIns="0" rtlCol="0" anchor="ctr"/>
          <a:lstStyle/>
          <a:p>
            <a:pPr indent="0" marL="0">
              <a:buNone/>
            </a:pPr>
            <a:r>
              <a:rPr lang="en-US" sz="1800" b="1" dirty="0">
                <a:solidFill>
                  <a:schemeClr val="tx1"/>
                </a:solidFill>
              </a:rPr>
              <a:t>Maths as Hints</a:t>
            </a:r>
            <a:endParaRPr lang="en-US" sz="1800" dirty="0"/>
          </a:p>
        </p:txBody>
      </p:sp>
      <p:sp>
        <p:nvSpPr>
          <p:cNvPr id="10" name="Controller text 2"/>
          <p:cNvSpPr txBox="1"/>
          <p:nvPr/>
        </p:nvSpPr>
        <p:spPr>
          <a:xfrm>
            <a:off x="6519672" y="2606040"/>
            <a:ext cx="4846320" cy="1143000"/>
          </a:xfrm>
          <a:prstGeom prst="rect">
            <a:avLst/>
          </a:prstGeom>
          <a:noFill/>
          <a:ln/>
        </p:spPr>
        <p:txBody>
          <a:bodyPr wrap="square" lIns="0" tIns="0" rIns="0" bIns="0" rtlCol="0" anchor="t"/>
          <a:lstStyle/>
          <a:p>
            <a:pPr indent="0" marL="0">
              <a:buNone/>
            </a:pPr>
            <a:r>
              <a:rPr lang="en-US" sz="1600" dirty="0">
                <a:solidFill>
                  <a:schemeClr val="tx1"/>
                </a:solidFill>
              </a:rPr>
              <a:t>We give it known physics formulas as hints, so it learns faster and picks better.</a:t>
            </a:r>
            <a:endParaRPr lang="en-US" sz="1600" dirty="0"/>
          </a:p>
        </p:txBody>
      </p:sp>
      <p:sp>
        <p:nvSpPr>
          <p:cNvPr id="11" name="Controller card 3"/>
          <p:cNvSpPr/>
          <p:nvPr/>
        </p:nvSpPr>
        <p:spPr>
          <a:xfrm>
            <a:off x="548640" y="4114800"/>
            <a:ext cx="5394960" cy="2103120"/>
          </a:xfrm>
          <a:prstGeom prst="roundRect">
            <a:avLst>
              <a:gd name="adj" fmla="val 15217"/>
            </a:avLst>
          </a:prstGeom>
          <a:solidFill>
            <a:schemeClr val="bg1">
              <a:alpha val="38000"/>
            </a:schemeClr>
          </a:solidFill>
          <a:ln w="12700">
            <a:solidFill>
              <a:schemeClr val="tx1">
                <a:alpha val="65000"/>
              </a:schemeClr>
            </a:solidFill>
            <a:prstDash val="solid"/>
          </a:ln>
        </p:spPr>
      </p:sp>
      <p:pic>
        <p:nvPicPr>
          <p:cNvPr id="12" name="Image 2" descr="Target icon">    </p:cNvPr>
          <p:cNvPicPr>
            <a:picLocks noChangeAspect="1"/>
          </p:cNvPicPr>
          <p:nvPr/>
        </p:nvPicPr>
        <p:blipFill>
          <a:blip r:embed="rId3"/>
          <a:stretch>
            <a:fillRect/>
          </a:stretch>
        </p:blipFill>
        <p:spPr>
          <a:xfrm>
            <a:off x="777240" y="4315968"/>
            <a:ext cx="411480" cy="411480"/>
          </a:xfrm>
          <a:prstGeom prst="rect">
            <a:avLst/>
          </a:prstGeom>
        </p:spPr>
      </p:pic>
      <p:sp>
        <p:nvSpPr>
          <p:cNvPr id="13" name="Text 8"/>
          <p:cNvSpPr txBox="1"/>
          <p:nvPr/>
        </p:nvSpPr>
        <p:spPr>
          <a:xfrm>
            <a:off x="1371600" y="4297680"/>
            <a:ext cx="4206240" cy="457200"/>
          </a:xfrm>
          <a:prstGeom prst="rect">
            <a:avLst/>
          </a:prstGeom>
          <a:noFill/>
          <a:ln/>
        </p:spPr>
        <p:txBody>
          <a:bodyPr wrap="square" lIns="0" tIns="0" rIns="0" bIns="0" rtlCol="0" anchor="ctr"/>
          <a:lstStyle/>
          <a:p>
            <a:pPr indent="0" marL="0">
              <a:buNone/>
            </a:pPr>
            <a:r>
              <a:rPr lang="en-US" sz="1800" b="1" dirty="0">
                <a:solidFill>
                  <a:schemeClr val="tx1"/>
                </a:solidFill>
              </a:rPr>
              <a:t>Score: "Regret"</a:t>
            </a:r>
            <a:endParaRPr lang="en-US" sz="1800" dirty="0"/>
          </a:p>
        </p:txBody>
      </p:sp>
      <p:sp>
        <p:nvSpPr>
          <p:cNvPr id="14" name="Controller text 3"/>
          <p:cNvSpPr txBox="1"/>
          <p:nvPr/>
        </p:nvSpPr>
        <p:spPr>
          <a:xfrm>
            <a:off x="822960" y="4937760"/>
            <a:ext cx="4846320" cy="1143000"/>
          </a:xfrm>
          <a:prstGeom prst="rect">
            <a:avLst/>
          </a:prstGeom>
          <a:noFill/>
          <a:ln/>
        </p:spPr>
        <p:txBody>
          <a:bodyPr wrap="square" lIns="0" tIns="0" rIns="0" bIns="0" rtlCol="0" anchor="t"/>
          <a:lstStyle/>
          <a:p>
            <a:pPr indent="0" marL="0">
              <a:buNone/>
            </a:pPr>
            <a:r>
              <a:rPr lang="en-US" sz="1600" dirty="0">
                <a:solidFill>
                  <a:schemeClr val="tx1"/>
                </a:solidFill>
              </a:rPr>
              <a:t>We measure how much accuracy we lose compared to a perfect decision-maker.</a:t>
            </a:r>
            <a:endParaRPr lang="en-US" sz="1600" dirty="0"/>
          </a:p>
        </p:txBody>
      </p:sp>
      <p:sp>
        <p:nvSpPr>
          <p:cNvPr id="15" name="Controller card 4"/>
          <p:cNvSpPr/>
          <p:nvPr/>
        </p:nvSpPr>
        <p:spPr>
          <a:xfrm>
            <a:off x="6245352" y="4114800"/>
            <a:ext cx="5394960" cy="2103120"/>
          </a:xfrm>
          <a:prstGeom prst="roundRect">
            <a:avLst>
              <a:gd name="adj" fmla="val 15217"/>
            </a:avLst>
          </a:prstGeom>
          <a:solidFill>
            <a:schemeClr val="bg1">
              <a:alpha val="38000"/>
            </a:schemeClr>
          </a:solidFill>
          <a:ln w="12700">
            <a:solidFill>
              <a:schemeClr val="tx1">
                <a:alpha val="65000"/>
              </a:schemeClr>
            </a:solidFill>
            <a:prstDash val="solid"/>
          </a:ln>
        </p:spPr>
      </p:sp>
      <p:pic>
        <p:nvPicPr>
          <p:cNvPr id="16" name="Image 3" descr="Shield icon">    </p:cNvPr>
          <p:cNvPicPr>
            <a:picLocks noChangeAspect="1"/>
          </p:cNvPicPr>
          <p:nvPr/>
        </p:nvPicPr>
        <p:blipFill>
          <a:blip r:embed="rId4"/>
          <a:stretch>
            <a:fillRect/>
          </a:stretch>
        </p:blipFill>
        <p:spPr>
          <a:xfrm>
            <a:off x="6473952" y="4315968"/>
            <a:ext cx="411480" cy="411480"/>
          </a:xfrm>
          <a:prstGeom prst="rect">
            <a:avLst/>
          </a:prstGeom>
        </p:spPr>
      </p:pic>
      <p:sp>
        <p:nvSpPr>
          <p:cNvPr id="17" name="Text 11"/>
          <p:cNvSpPr txBox="1"/>
          <p:nvPr/>
        </p:nvSpPr>
        <p:spPr>
          <a:xfrm>
            <a:off x="7068312" y="4297680"/>
            <a:ext cx="4206240" cy="457200"/>
          </a:xfrm>
          <a:prstGeom prst="rect">
            <a:avLst/>
          </a:prstGeom>
          <a:noFill/>
          <a:ln/>
        </p:spPr>
        <p:txBody>
          <a:bodyPr wrap="square" lIns="0" tIns="0" rIns="0" bIns="0" rtlCol="0" anchor="ctr"/>
          <a:lstStyle/>
          <a:p>
            <a:pPr indent="0" marL="0">
              <a:buNone/>
            </a:pPr>
            <a:r>
              <a:rPr lang="en-US" sz="1800" b="1" dirty="0">
                <a:solidFill>
                  <a:schemeClr val="tx1"/>
                </a:solidFill>
              </a:rPr>
              <a:t>Backup Plan</a:t>
            </a:r>
            <a:endParaRPr lang="en-US" sz="1800" dirty="0"/>
          </a:p>
        </p:txBody>
      </p:sp>
      <p:sp>
        <p:nvSpPr>
          <p:cNvPr id="18" name="Controller text 4"/>
          <p:cNvSpPr txBox="1"/>
          <p:nvPr/>
        </p:nvSpPr>
        <p:spPr>
          <a:xfrm>
            <a:off x="6519672" y="4937760"/>
            <a:ext cx="4846320" cy="1143000"/>
          </a:xfrm>
          <a:prstGeom prst="rect">
            <a:avLst/>
          </a:prstGeom>
          <a:noFill/>
          <a:ln/>
        </p:spPr>
        <p:txBody>
          <a:bodyPr wrap="square" lIns="0" tIns="0" rIns="0" bIns="0" rtlCol="0" anchor="t"/>
          <a:lstStyle/>
          <a:p>
            <a:pPr indent="0" marL="0">
              <a:buNone/>
            </a:pPr>
            <a:r>
              <a:rPr lang="en-US" sz="1600" dirty="0">
                <a:solidFill>
                  <a:schemeClr val="tx1"/>
                </a:solidFill>
              </a:rPr>
              <a:t>If a computer does not allow scikit-learn, our program still works using plain NumPy.</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548640" y="777240"/>
            <a:ext cx="11091672" cy="731520"/>
          </a:xfrm>
          <a:prstGeom prst="rect">
            <a:avLst/>
          </a:prstGeom>
          <a:noFill/>
          <a:ln/>
        </p:spPr>
        <p:txBody>
          <a:bodyPr wrap="square" lIns="0" tIns="0" rIns="0" bIns="0" rtlCol="0" anchor="ctr"/>
          <a:lstStyle/>
          <a:p>
            <a:pPr algn="l" indent="0" marL="0">
              <a:buNone/>
            </a:pPr>
            <a:r>
              <a:rPr lang="en-US" sz="3600" b="1" spc="-100" kern="0" dirty="0">
                <a:solidFill>
                  <a:schemeClr val="bg1"/>
                </a:solidFill>
              </a:rPr>
              <a:t>The Result</a:t>
            </a:r>
            <a:endParaRPr lang="en-US" sz="3600" dirty="0"/>
          </a:p>
        </p:txBody>
      </p:sp>
      <p:sp>
        <p:nvSpPr>
          <p:cNvPr id="3" name="Verdict card"/>
          <p:cNvSpPr/>
          <p:nvPr/>
        </p:nvSpPr>
        <p:spPr>
          <a:xfrm>
            <a:off x="548640" y="1783080"/>
            <a:ext cx="11091672" cy="4434840"/>
          </a:xfrm>
          <a:prstGeom prst="roundRect">
            <a:avLst>
              <a:gd name="adj" fmla="val 7216"/>
            </a:avLst>
          </a:prstGeom>
          <a:solidFill>
            <a:schemeClr val="bg1">
              <a:alpha val="6000"/>
            </a:schemeClr>
          </a:solidFill>
          <a:ln w="12700">
            <a:solidFill>
              <a:schemeClr val="bg1">
                <a:alpha val="45000"/>
              </a:schemeClr>
            </a:solidFill>
            <a:prstDash val="solid"/>
          </a:ln>
        </p:spPr>
      </p:sp>
      <p:sp>
        <p:nvSpPr>
          <p:cNvPr id="4" name="Accent dot"/>
          <p:cNvSpPr/>
          <p:nvPr/>
        </p:nvSpPr>
        <p:spPr>
          <a:xfrm>
            <a:off x="914400" y="2423160"/>
            <a:ext cx="365760" cy="365760"/>
          </a:xfrm>
          <a:prstGeom prst="ellipse">
            <a:avLst/>
          </a:prstGeom>
          <a:solidFill>
            <a:schemeClr val="accent2"/>
          </a:solidFill>
          <a:ln w="12700">
            <a:solidFill>
              <a:schemeClr val="bg1">
                <a:alpha val="60000"/>
              </a:schemeClr>
            </a:solidFill>
            <a:prstDash val="solid"/>
          </a:ln>
        </p:spPr>
      </p:sp>
      <p:sp>
        <p:nvSpPr>
          <p:cNvPr id="5" name="Verdict label 1"/>
          <p:cNvSpPr txBox="1"/>
          <p:nvPr/>
        </p:nvSpPr>
        <p:spPr>
          <a:xfrm>
            <a:off x="1554480" y="2011680"/>
            <a:ext cx="2743200" cy="1188720"/>
          </a:xfrm>
          <a:prstGeom prst="rect">
            <a:avLst/>
          </a:prstGeom>
          <a:noFill/>
          <a:ln/>
        </p:spPr>
        <p:txBody>
          <a:bodyPr wrap="square" lIns="0" tIns="0" rIns="0" bIns="0" rtlCol="0" anchor="ctr"/>
          <a:lstStyle/>
          <a:p>
            <a:pPr indent="0" marL="0">
              <a:buNone/>
            </a:pPr>
            <a:r>
              <a:rPr lang="en-US" sz="2400" b="1" dirty="0">
                <a:solidFill>
                  <a:schemeClr val="bg1"/>
                </a:solidFill>
              </a:rPr>
              <a:t>What We Did</a:t>
            </a:r>
            <a:endParaRPr lang="en-US" sz="2400" dirty="0"/>
          </a:p>
        </p:txBody>
      </p:sp>
      <p:sp>
        <p:nvSpPr>
          <p:cNvPr id="6" name="Verdict text 1"/>
          <p:cNvSpPr txBox="1"/>
          <p:nvPr/>
        </p:nvSpPr>
        <p:spPr>
          <a:xfrm>
            <a:off x="4480560" y="2011680"/>
            <a:ext cx="6766560" cy="1188720"/>
          </a:xfrm>
          <a:prstGeom prst="rect">
            <a:avLst/>
          </a:prstGeom>
          <a:noFill/>
          <a:ln/>
        </p:spPr>
        <p:txBody>
          <a:bodyPr wrap="square" lIns="0" tIns="0" rIns="0" bIns="0" rtlCol="0" anchor="ctr"/>
          <a:lstStyle/>
          <a:p>
            <a:pPr indent="0" marL="0">
              <a:buNone/>
            </a:pPr>
            <a:r>
              <a:rPr lang="en-US" sz="1800" dirty="0">
                <a:solidFill>
                  <a:schemeClr val="bg1"/>
                </a:solidFill>
              </a:rPr>
              <a:t>We combined textbook maths with realistic quantum simulations.</a:t>
            </a:r>
            <a:endParaRPr lang="en-US" sz="1800" dirty="0"/>
          </a:p>
        </p:txBody>
      </p:sp>
      <p:sp>
        <p:nvSpPr>
          <p:cNvPr id="7" name="Row divider"/>
          <p:cNvSpPr/>
          <p:nvPr/>
        </p:nvSpPr>
        <p:spPr>
          <a:xfrm>
            <a:off x="914400" y="3291840"/>
            <a:ext cx="10360152" cy="0"/>
          </a:xfrm>
          <a:prstGeom prst="line">
            <a:avLst/>
          </a:prstGeom>
          <a:noFill/>
          <a:ln w="12700">
            <a:solidFill>
              <a:schemeClr val="bg1">
                <a:alpha val="40000"/>
              </a:schemeClr>
            </a:solidFill>
            <a:prstDash val="solid"/>
          </a:ln>
        </p:spPr>
      </p:sp>
      <p:sp>
        <p:nvSpPr>
          <p:cNvPr id="8" name="Accent dot"/>
          <p:cNvSpPr/>
          <p:nvPr/>
        </p:nvSpPr>
        <p:spPr>
          <a:xfrm>
            <a:off x="914400" y="3794760"/>
            <a:ext cx="365760" cy="365760"/>
          </a:xfrm>
          <a:prstGeom prst="ellipse">
            <a:avLst/>
          </a:prstGeom>
          <a:solidFill>
            <a:schemeClr val="accent2"/>
          </a:solidFill>
          <a:ln w="12700">
            <a:solidFill>
              <a:schemeClr val="bg1">
                <a:alpha val="60000"/>
              </a:schemeClr>
            </a:solidFill>
            <a:prstDash val="solid"/>
          </a:ln>
        </p:spPr>
      </p:sp>
      <p:sp>
        <p:nvSpPr>
          <p:cNvPr id="9" name="Verdict label 2"/>
          <p:cNvSpPr txBox="1"/>
          <p:nvPr/>
        </p:nvSpPr>
        <p:spPr>
          <a:xfrm>
            <a:off x="1554480" y="3383280"/>
            <a:ext cx="2743200" cy="1188720"/>
          </a:xfrm>
          <a:prstGeom prst="rect">
            <a:avLst/>
          </a:prstGeom>
          <a:noFill/>
          <a:ln/>
        </p:spPr>
        <p:txBody>
          <a:bodyPr wrap="square" lIns="0" tIns="0" rIns="0" bIns="0" rtlCol="0" anchor="ctr"/>
          <a:lstStyle/>
          <a:p>
            <a:pPr indent="0" marL="0">
              <a:buNone/>
            </a:pPr>
            <a:r>
              <a:rPr lang="en-US" sz="2400" b="1" dirty="0">
                <a:solidFill>
                  <a:schemeClr val="bg1"/>
                </a:solidFill>
              </a:rPr>
              <a:t>What We Found</a:t>
            </a:r>
            <a:endParaRPr lang="en-US" sz="2400" dirty="0"/>
          </a:p>
        </p:txBody>
      </p:sp>
      <p:sp>
        <p:nvSpPr>
          <p:cNvPr id="10" name="Verdict text 2"/>
          <p:cNvSpPr txBox="1"/>
          <p:nvPr/>
        </p:nvSpPr>
        <p:spPr>
          <a:xfrm>
            <a:off x="4480560" y="3383280"/>
            <a:ext cx="6766560" cy="1188720"/>
          </a:xfrm>
          <a:prstGeom prst="rect">
            <a:avLst/>
          </a:prstGeom>
          <a:noFill/>
          <a:ln/>
        </p:spPr>
        <p:txBody>
          <a:bodyPr wrap="square" lIns="0" tIns="0" rIns="0" bIns="0" rtlCol="0" anchor="ctr"/>
          <a:lstStyle/>
          <a:p>
            <a:pPr indent="0" marL="0">
              <a:buNone/>
            </a:pPr>
            <a:r>
              <a:rPr lang="en-US" sz="1800" dirty="0">
                <a:solidFill>
                  <a:schemeClr val="bg1"/>
                </a:solidFill>
              </a:rPr>
              <a:t>On today's quantum computers, protection is limited by the many extra CNOT gates and by qubits fading over time.</a:t>
            </a:r>
            <a:endParaRPr lang="en-US" sz="1800" dirty="0"/>
          </a:p>
        </p:txBody>
      </p:sp>
      <p:sp>
        <p:nvSpPr>
          <p:cNvPr id="11" name="Row divider"/>
          <p:cNvSpPr/>
          <p:nvPr/>
        </p:nvSpPr>
        <p:spPr>
          <a:xfrm>
            <a:off x="914400" y="4663440"/>
            <a:ext cx="10360152" cy="0"/>
          </a:xfrm>
          <a:prstGeom prst="line">
            <a:avLst/>
          </a:prstGeom>
          <a:noFill/>
          <a:ln w="12700">
            <a:solidFill>
              <a:schemeClr val="bg1">
                <a:alpha val="40000"/>
              </a:schemeClr>
            </a:solidFill>
            <a:prstDash val="solid"/>
          </a:ln>
        </p:spPr>
      </p:sp>
      <p:sp>
        <p:nvSpPr>
          <p:cNvPr id="12" name="Accent dot"/>
          <p:cNvSpPr/>
          <p:nvPr/>
        </p:nvSpPr>
        <p:spPr>
          <a:xfrm>
            <a:off x="914400" y="5166360"/>
            <a:ext cx="365760" cy="365760"/>
          </a:xfrm>
          <a:prstGeom prst="ellipse">
            <a:avLst/>
          </a:prstGeom>
          <a:solidFill>
            <a:schemeClr val="accent2"/>
          </a:solidFill>
          <a:ln w="12700">
            <a:solidFill>
              <a:schemeClr val="bg1">
                <a:alpha val="60000"/>
              </a:schemeClr>
            </a:solidFill>
            <a:prstDash val="solid"/>
          </a:ln>
        </p:spPr>
      </p:sp>
      <p:sp>
        <p:nvSpPr>
          <p:cNvPr id="13" name="Verdict label 3"/>
          <p:cNvSpPr txBox="1"/>
          <p:nvPr/>
        </p:nvSpPr>
        <p:spPr>
          <a:xfrm>
            <a:off x="1554480" y="4754880"/>
            <a:ext cx="2743200" cy="1188720"/>
          </a:xfrm>
          <a:prstGeom prst="rect">
            <a:avLst/>
          </a:prstGeom>
          <a:noFill/>
          <a:ln/>
        </p:spPr>
        <p:txBody>
          <a:bodyPr wrap="square" lIns="0" tIns="0" rIns="0" bIns="0" rtlCol="0" anchor="ctr"/>
          <a:lstStyle/>
          <a:p>
            <a:pPr indent="0" marL="0">
              <a:buNone/>
            </a:pPr>
            <a:r>
              <a:rPr lang="en-US" sz="2400" b="1" dirty="0">
                <a:solidFill>
                  <a:schemeClr val="bg1"/>
                </a:solidFill>
              </a:rPr>
              <a:t>What Is New</a:t>
            </a:r>
            <a:endParaRPr lang="en-US" sz="2400" dirty="0"/>
          </a:p>
        </p:txBody>
      </p:sp>
      <p:sp>
        <p:nvSpPr>
          <p:cNvPr id="14" name="Verdict text 3"/>
          <p:cNvSpPr txBox="1"/>
          <p:nvPr/>
        </p:nvSpPr>
        <p:spPr>
          <a:xfrm>
            <a:off x="4480560" y="4754880"/>
            <a:ext cx="6766560" cy="1188720"/>
          </a:xfrm>
          <a:prstGeom prst="rect">
            <a:avLst/>
          </a:prstGeom>
          <a:noFill/>
          <a:ln/>
        </p:spPr>
        <p:txBody>
          <a:bodyPr wrap="square" lIns="0" tIns="0" rIns="0" bIns="0" rtlCol="0" anchor="ctr"/>
          <a:lstStyle/>
          <a:p>
            <a:pPr indent="0" marL="0">
              <a:buNone/>
            </a:pPr>
            <a:r>
              <a:rPr lang="en-US" sz="1800" dirty="0">
                <a:solidFill>
                  <a:schemeClr val="bg1"/>
                </a:solidFill>
              </a:rPr>
              <a:t>A reliable smart program that picks the best protection when noise changes.</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548640" y="822960"/>
            <a:ext cx="4754880" cy="5394960"/>
          </a:xfrm>
          <a:prstGeom prst="rect">
            <a:avLst/>
          </a:prstGeom>
          <a:noFill/>
          <a:ln/>
        </p:spPr>
        <p:txBody>
          <a:bodyPr wrap="square" lIns="0" tIns="0" rIns="0" bIns="0" rtlCol="0" anchor="ctr"/>
          <a:lstStyle/>
          <a:p>
            <a:pPr algn="l" indent="0" marL="0">
              <a:buNone/>
            </a:pPr>
            <a:r>
              <a:rPr lang="en-US" sz="4000" b="1" spc="-100" kern="0" dirty="0">
                <a:solidFill>
                  <a:schemeClr val="tx1"/>
                </a:solidFill>
              </a:rPr>
              <a:t>The Gates We Use</a:t>
            </a:r>
            <a:endParaRPr lang="en-US" sz="4000" dirty="0"/>
          </a:p>
        </p:txBody>
      </p:sp>
      <p:sp>
        <p:nvSpPr>
          <p:cNvPr id="3" name="Engine card"/>
          <p:cNvSpPr/>
          <p:nvPr/>
        </p:nvSpPr>
        <p:spPr>
          <a:xfrm>
            <a:off x="5760720" y="685800"/>
            <a:ext cx="5879592" cy="5486400"/>
          </a:xfrm>
          <a:prstGeom prst="roundRect">
            <a:avLst>
              <a:gd name="adj" fmla="val 5833"/>
            </a:avLst>
          </a:prstGeom>
          <a:solidFill>
            <a:schemeClr val="bg1">
              <a:alpha val="38000"/>
            </a:schemeClr>
          </a:solidFill>
          <a:ln w="12700">
            <a:solidFill>
              <a:schemeClr val="tx1">
                <a:alpha val="65000"/>
              </a:schemeClr>
            </a:solidFill>
            <a:prstDash val="solid"/>
          </a:ln>
        </p:spPr>
      </p:sp>
      <p:pic>
        <p:nvPicPr>
          <p:cNvPr id="4" name="Image 0" descr="Database icon">    </p:cNvPr>
          <p:cNvPicPr>
            <a:picLocks noChangeAspect="1"/>
          </p:cNvPicPr>
          <p:nvPr/>
        </p:nvPicPr>
        <p:blipFill>
          <a:blip r:embed="rId1"/>
          <a:stretch>
            <a:fillRect/>
          </a:stretch>
        </p:blipFill>
        <p:spPr>
          <a:xfrm>
            <a:off x="6172200" y="1051560"/>
            <a:ext cx="548640" cy="548640"/>
          </a:xfrm>
          <a:prstGeom prst="rect">
            <a:avLst/>
          </a:prstGeom>
        </p:spPr>
      </p:pic>
      <p:sp>
        <p:nvSpPr>
          <p:cNvPr id="5" name="Text 2"/>
          <p:cNvSpPr txBox="1"/>
          <p:nvPr/>
        </p:nvSpPr>
        <p:spPr>
          <a:xfrm>
            <a:off x="6995160" y="1005840"/>
            <a:ext cx="4297680" cy="365760"/>
          </a:xfrm>
          <a:prstGeom prst="rect">
            <a:avLst/>
          </a:prstGeom>
          <a:noFill/>
          <a:ln/>
        </p:spPr>
        <p:txBody>
          <a:bodyPr wrap="square" lIns="0" tIns="0" rIns="0" bIns="0" rtlCol="0" anchor="ctr"/>
          <a:lstStyle/>
          <a:p>
            <a:pPr indent="0" marL="0">
              <a:buNone/>
            </a:pPr>
            <a:r>
              <a:rPr lang="en-US" sz="1800" b="1" dirty="0">
                <a:solidFill>
                  <a:schemeClr val="tx1"/>
                </a:solidFill>
              </a:rPr>
              <a:t>CNOT Gate</a:t>
            </a:r>
            <a:endParaRPr lang="en-US" sz="1800" dirty="0"/>
          </a:p>
        </p:txBody>
      </p:sp>
      <p:sp>
        <p:nvSpPr>
          <p:cNvPr id="6" name="Engine item 1"/>
          <p:cNvSpPr txBox="1"/>
          <p:nvPr/>
        </p:nvSpPr>
        <p:spPr>
          <a:xfrm>
            <a:off x="6995160" y="1463040"/>
            <a:ext cx="4297680" cy="1097280"/>
          </a:xfrm>
          <a:prstGeom prst="rect">
            <a:avLst/>
          </a:prstGeom>
          <a:noFill/>
          <a:ln/>
        </p:spPr>
        <p:txBody>
          <a:bodyPr wrap="square" lIns="0" tIns="0" rIns="0" bIns="0" rtlCol="0" anchor="t"/>
          <a:lstStyle/>
          <a:p>
            <a:pPr indent="0" marL="0">
              <a:buNone/>
            </a:pPr>
            <a:r>
              <a:rPr lang="en-US" sz="1400" dirty="0">
                <a:solidFill>
                  <a:schemeClr val="tx1"/>
                </a:solidFill>
              </a:rPr>
              <a:t>Flips one qubit only if another qubit is 1. It copies and checks information. It is also our biggest source of extra mistakes.</a:t>
            </a:r>
            <a:endParaRPr lang="en-US" sz="1400" dirty="0"/>
          </a:p>
        </p:txBody>
      </p:sp>
      <p:pic>
        <p:nvPicPr>
          <p:cNvPr id="7" name="Image 1" descr="Repeat icon">    </p:cNvPr>
          <p:cNvPicPr>
            <a:picLocks noChangeAspect="1"/>
          </p:cNvPicPr>
          <p:nvPr/>
        </p:nvPicPr>
        <p:blipFill>
          <a:blip r:embed="rId2"/>
          <a:stretch>
            <a:fillRect/>
          </a:stretch>
        </p:blipFill>
        <p:spPr>
          <a:xfrm>
            <a:off x="6172200" y="2697480"/>
            <a:ext cx="548640" cy="548640"/>
          </a:xfrm>
          <a:prstGeom prst="rect">
            <a:avLst/>
          </a:prstGeom>
        </p:spPr>
      </p:pic>
      <p:sp>
        <p:nvSpPr>
          <p:cNvPr id="8" name="Text 4"/>
          <p:cNvSpPr txBox="1"/>
          <p:nvPr/>
        </p:nvSpPr>
        <p:spPr>
          <a:xfrm>
            <a:off x="6995160" y="2651760"/>
            <a:ext cx="4297680" cy="365760"/>
          </a:xfrm>
          <a:prstGeom prst="rect">
            <a:avLst/>
          </a:prstGeom>
          <a:noFill/>
          <a:ln/>
        </p:spPr>
        <p:txBody>
          <a:bodyPr wrap="square" lIns="0" tIns="0" rIns="0" bIns="0" rtlCol="0" anchor="ctr"/>
          <a:lstStyle/>
          <a:p>
            <a:pPr indent="0" marL="0">
              <a:buNone/>
            </a:pPr>
            <a:r>
              <a:rPr lang="en-US" sz="1800" b="1" dirty="0">
                <a:solidFill>
                  <a:schemeClr val="tx1"/>
                </a:solidFill>
              </a:rPr>
              <a:t>X and H Gates</a:t>
            </a:r>
            <a:endParaRPr lang="en-US" sz="1800" dirty="0"/>
          </a:p>
        </p:txBody>
      </p:sp>
      <p:sp>
        <p:nvSpPr>
          <p:cNvPr id="9" name="Engine item 2"/>
          <p:cNvSpPr txBox="1"/>
          <p:nvPr/>
        </p:nvSpPr>
        <p:spPr>
          <a:xfrm>
            <a:off x="6995160" y="3108960"/>
            <a:ext cx="4297680" cy="1097280"/>
          </a:xfrm>
          <a:prstGeom prst="rect">
            <a:avLst/>
          </a:prstGeom>
          <a:noFill/>
          <a:ln/>
        </p:spPr>
        <p:txBody>
          <a:bodyPr wrap="square" lIns="0" tIns="0" rIns="0" bIns="0" rtlCol="0" anchor="t"/>
          <a:lstStyle/>
          <a:p>
            <a:pPr indent="0" marL="0">
              <a:buNone/>
            </a:pPr>
            <a:r>
              <a:rPr lang="en-US" sz="1400" dirty="0">
                <a:solidFill>
                  <a:schemeClr val="tx1"/>
                </a:solidFill>
              </a:rPr>
              <a:t>X flips a qubit (0 becomes 1). H puts a qubit in a "both at once" state. We use them to set up test states and to catch phase errors.</a:t>
            </a:r>
            <a:endParaRPr lang="en-US" sz="1400" dirty="0"/>
          </a:p>
        </p:txBody>
      </p:sp>
      <p:pic>
        <p:nvPicPr>
          <p:cNvPr id="10" name="Image 2" descr="Layers icon">    </p:cNvPr>
          <p:cNvPicPr>
            <a:picLocks noChangeAspect="1"/>
          </p:cNvPicPr>
          <p:nvPr/>
        </p:nvPicPr>
        <p:blipFill>
          <a:blip r:embed="rId3"/>
          <a:stretch>
            <a:fillRect/>
          </a:stretch>
        </p:blipFill>
        <p:spPr>
          <a:xfrm>
            <a:off x="6172200" y="4434840"/>
            <a:ext cx="548640" cy="548640"/>
          </a:xfrm>
          <a:prstGeom prst="rect">
            <a:avLst/>
          </a:prstGeom>
        </p:spPr>
      </p:pic>
      <p:sp>
        <p:nvSpPr>
          <p:cNvPr id="11" name="Text 6"/>
          <p:cNvSpPr txBox="1"/>
          <p:nvPr/>
        </p:nvSpPr>
        <p:spPr>
          <a:xfrm>
            <a:off x="6995160" y="4389120"/>
            <a:ext cx="4297680" cy="365760"/>
          </a:xfrm>
          <a:prstGeom prst="rect">
            <a:avLst/>
          </a:prstGeom>
          <a:noFill/>
          <a:ln/>
        </p:spPr>
        <p:txBody>
          <a:bodyPr wrap="square" lIns="0" tIns="0" rIns="0" bIns="0" rtlCol="0" anchor="ctr"/>
          <a:lstStyle/>
          <a:p>
            <a:pPr indent="0" marL="0">
              <a:buNone/>
            </a:pPr>
            <a:r>
              <a:rPr lang="en-US" sz="1800" b="1" dirty="0">
                <a:solidFill>
                  <a:schemeClr val="tx1"/>
                </a:solidFill>
              </a:rPr>
              <a:t>Measurement</a:t>
            </a:r>
            <a:endParaRPr lang="en-US" sz="1800" dirty="0"/>
          </a:p>
        </p:txBody>
      </p:sp>
      <p:sp>
        <p:nvSpPr>
          <p:cNvPr id="12" name="Engine item 3"/>
          <p:cNvSpPr txBox="1"/>
          <p:nvPr/>
        </p:nvSpPr>
        <p:spPr>
          <a:xfrm>
            <a:off x="6995160" y="4846320"/>
            <a:ext cx="4297680" cy="1097280"/>
          </a:xfrm>
          <a:prstGeom prst="rect">
            <a:avLst/>
          </a:prstGeom>
          <a:noFill/>
          <a:ln/>
        </p:spPr>
        <p:txBody>
          <a:bodyPr wrap="square" lIns="0" tIns="0" rIns="0" bIns="0" rtlCol="0" anchor="t"/>
          <a:lstStyle/>
          <a:p>
            <a:pPr indent="0" marL="0">
              <a:buNone/>
            </a:pPr>
            <a:r>
              <a:rPr lang="en-US" sz="1400" dirty="0">
                <a:solidFill>
                  <a:schemeClr val="tx1"/>
                </a:solidFill>
              </a:rPr>
              <a:t>Reads the final answer from the qubit. Reading can also go wrong, so we add that mistake to our tests too.</a:t>
            </a:r>
            <a:endParaRPr lang="en-US" sz="1400" dirty="0"/>
          </a:p>
        </p:txBody>
      </p:sp>
    </p:spTree>
  </p:cSld>
  <p:clrMapOvr>
    <a:masterClrMapping/>
  </p:clrMapOvr>
</p:sld>
</file>

<file path=ppt/theme/theme1.xml><?xml version="1.0" encoding="utf-8"?>
<a:theme xmlns:a="http://schemas.openxmlformats.org/drawingml/2006/main" name="QEC Glass">
  <a:themeElements>
    <a:clrScheme name="QEC Glass">
      <a:dk1>
        <a:srgbClr val="2F3133"/>
      </a:dk1>
      <a:lt1>
        <a:srgbClr val="FFFFFF"/>
      </a:lt1>
      <a:dk2>
        <a:srgbClr val="444648"/>
      </a:dk2>
      <a:lt2>
        <a:srgbClr val="D3DAE2"/>
      </a:lt2>
      <a:accent1>
        <a:srgbClr val="8EB8E2"/>
      </a:accent1>
      <a:accent2>
        <a:srgbClr val="BFD9F5"/>
      </a:accent2>
      <a:accent3>
        <a:srgbClr val="5F8FC0"/>
      </a:accent3>
      <a:accent4>
        <a:srgbClr val="E59A94"/>
      </a:accent4>
      <a:accent5>
        <a:srgbClr val="8FCBA3"/>
      </a:accent5>
      <a:accent6>
        <a:srgbClr val="EAD08E"/>
      </a:accent6>
      <a:hlink>
        <a:srgbClr val="5F8FC0"/>
      </a:hlink>
      <a:folHlink>
        <a:srgbClr val="8A8D91"/>
      </a:folHlink>
    </a:clrScheme>
    <a:fontScheme name="QEC Glas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Beyond the Textbook: Adaptive Quantum Error Correction on Noisy Hardware</dc:title>
  <dc:subject>PptxGenJS Presentation</dc:subject>
  <dc:creator>Qiskit Fall Fest 2026 - Track 3</dc:creator>
  <cp:lastModifiedBy>Qiskit Fall Fest 2026 - Track 3</cp:lastModifiedBy>
  <cp:revision>1</cp:revision>
  <dcterms:created xsi:type="dcterms:W3CDTF">2026-10-07T00:31:31Z</dcterms:created>
  <dcterms:modified xsi:type="dcterms:W3CDTF">2026-10-07T00:31:31Z</dcterms:modified>
</cp:coreProperties>
</file>